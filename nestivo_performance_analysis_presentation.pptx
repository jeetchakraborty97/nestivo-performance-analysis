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Merriweather Bold" panose="020B0604020202020204" charset="0"/>
      <p:regular r:id="rId13"/>
    </p:embeddedFont>
    <p:embeddedFont>
      <p:font typeface="Open Sans" panose="020B0606030504020204" pitchFamily="34" charset="0"/>
      <p:regular r:id="rId14"/>
      <p:italic r:id="rId15"/>
    </p:embeddedFont>
    <p:embeddedFont>
      <p:font typeface="Open Sans Bold" panose="020B0806030504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9302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9.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2067421"/>
          </a:xfrm>
          <a:prstGeom prst="rect">
            <a:avLst/>
          </a:prstGeom>
          <a:solidFill>
            <a:srgbClr val="FFD8CC"/>
          </a:solidFill>
          <a:ln/>
        </p:spPr>
      </p:sp>
      <p:pic>
        <p:nvPicPr>
          <p:cNvPr id="3" name="Image 0" descr="preencoded.png"/>
          <p:cNvPicPr>
            <a:picLocks noChangeAspect="1"/>
          </p:cNvPicPr>
          <p:nvPr/>
        </p:nvPicPr>
        <p:blipFill>
          <a:blip r:embed="rId3"/>
          <a:stretch>
            <a:fillRect/>
          </a:stretch>
        </p:blipFill>
        <p:spPr>
          <a:xfrm>
            <a:off x="5144760" y="82649"/>
            <a:ext cx="1902075" cy="1902123"/>
          </a:xfrm>
          <a:prstGeom prst="rect">
            <a:avLst/>
          </a:prstGeom>
        </p:spPr>
      </p:pic>
      <p:sp>
        <p:nvSpPr>
          <p:cNvPr id="4" name="Text 1"/>
          <p:cNvSpPr/>
          <p:nvPr/>
        </p:nvSpPr>
        <p:spPr>
          <a:xfrm>
            <a:off x="661475" y="2808883"/>
            <a:ext cx="10868745" cy="516731"/>
          </a:xfrm>
          <a:prstGeom prst="rect">
            <a:avLst/>
          </a:prstGeom>
          <a:noFill/>
          <a:ln/>
        </p:spPr>
        <p:txBody>
          <a:bodyPr wrap="none" lIns="0" tIns="0" rIns="0" bIns="0" rtlCol="0" anchor="t"/>
          <a:lstStyle/>
          <a:p>
            <a:pPr marL="0" indent="0" algn="ctr">
              <a:lnSpc>
                <a:spcPct val="104000"/>
              </a:lnSpc>
              <a:buNone/>
            </a:pPr>
            <a:r>
              <a:rPr lang="en-US" sz="3250" b="1" dirty="0">
                <a:solidFill>
                  <a:srgbClr val="403C4E"/>
                </a:solidFill>
                <a:latin typeface="Merriweather Bold" pitchFamily="34" charset="0"/>
                <a:ea typeface="Merriweather Bold" pitchFamily="34" charset="-122"/>
                <a:cs typeface="Merriweather Bold" pitchFamily="34" charset="-120"/>
              </a:rPr>
              <a:t>Nestivo Performance Analysis</a:t>
            </a:r>
            <a:endParaRPr lang="en-US" sz="3250" dirty="0"/>
          </a:p>
        </p:txBody>
      </p:sp>
      <p:sp>
        <p:nvSpPr>
          <p:cNvPr id="5" name="Text 2"/>
          <p:cNvSpPr/>
          <p:nvPr/>
        </p:nvSpPr>
        <p:spPr>
          <a:xfrm>
            <a:off x="356682" y="3573661"/>
            <a:ext cx="11478330" cy="264616"/>
          </a:xfrm>
          <a:prstGeom prst="rect">
            <a:avLst/>
          </a:prstGeom>
          <a:noFill/>
          <a:ln/>
        </p:spPr>
        <p:txBody>
          <a:bodyPr wrap="none" lIns="0" tIns="0" rIns="0" bIns="0" rtlCol="0" anchor="t"/>
          <a:lstStyle/>
          <a:p>
            <a:pPr marL="0" indent="0" algn="ctr">
              <a:lnSpc>
                <a:spcPct val="133000"/>
              </a:lnSpc>
              <a:buNone/>
            </a:pPr>
            <a:r>
              <a:rPr lang="en-US" sz="1300" i="1" dirty="0">
                <a:solidFill>
                  <a:srgbClr val="403C4E"/>
                </a:solidFill>
                <a:latin typeface="Open Sans" pitchFamily="34" charset="0"/>
                <a:ea typeface="Open Sans" pitchFamily="34" charset="-122"/>
                <a:cs typeface="Open Sans" pitchFamily="34" charset="-120"/>
              </a:rPr>
              <a:t>A dashboard-based review of Nestivo's market presence, pricing, guest ratings, and host trust.</a:t>
            </a:r>
            <a:endParaRPr lang="en-US" sz="1300" dirty="0"/>
          </a:p>
        </p:txBody>
      </p:sp>
      <p:sp>
        <p:nvSpPr>
          <p:cNvPr id="6" name="Shape 3"/>
          <p:cNvSpPr/>
          <p:nvPr/>
        </p:nvSpPr>
        <p:spPr>
          <a:xfrm>
            <a:off x="542415" y="4024313"/>
            <a:ext cx="5470785" cy="2092127"/>
          </a:xfrm>
          <a:prstGeom prst="roundRect">
            <a:avLst>
              <a:gd name="adj" fmla="val 5692"/>
            </a:avLst>
          </a:prstGeom>
          <a:solidFill>
            <a:srgbClr val="FFAD94"/>
          </a:solidFill>
          <a:ln/>
        </p:spPr>
      </p:sp>
      <p:sp>
        <p:nvSpPr>
          <p:cNvPr id="7" name="Text 4"/>
          <p:cNvSpPr/>
          <p:nvPr/>
        </p:nvSpPr>
        <p:spPr>
          <a:xfrm>
            <a:off x="707710" y="4189611"/>
            <a:ext cx="5140196" cy="258465"/>
          </a:xfrm>
          <a:prstGeom prst="rect">
            <a:avLst/>
          </a:prstGeom>
          <a:noFill/>
          <a:ln/>
        </p:spPr>
        <p:txBody>
          <a:bodyPr wrap="none" lIns="0" tIns="0" rIns="0" bIns="0" rtlCol="0" anchor="t"/>
          <a:lstStyle/>
          <a:p>
            <a:pPr marL="0" indent="0" algn="l">
              <a:lnSpc>
                <a:spcPct val="104000"/>
              </a:lnSpc>
              <a:buNone/>
            </a:pPr>
            <a:r>
              <a:rPr lang="en-US" sz="1600" b="1" dirty="0">
                <a:solidFill>
                  <a:srgbClr val="403C4E"/>
                </a:solidFill>
                <a:latin typeface="Merriweather Bold" pitchFamily="34" charset="0"/>
                <a:ea typeface="Merriweather Bold" pitchFamily="34" charset="-122"/>
                <a:cs typeface="Merriweather Bold" pitchFamily="34" charset="-120"/>
              </a:rPr>
              <a:t>Purpose</a:t>
            </a:r>
            <a:endParaRPr lang="en-US" sz="1600" dirty="0"/>
          </a:p>
        </p:txBody>
      </p:sp>
      <p:sp>
        <p:nvSpPr>
          <p:cNvPr id="8" name="Text 5"/>
          <p:cNvSpPr/>
          <p:nvPr/>
        </p:nvSpPr>
        <p:spPr>
          <a:xfrm>
            <a:off x="707710" y="4613374"/>
            <a:ext cx="5140196" cy="1438771"/>
          </a:xfrm>
          <a:prstGeom prst="rect">
            <a:avLst/>
          </a:prstGeom>
          <a:noFill/>
          <a:ln/>
        </p:spPr>
        <p:txBody>
          <a:bodyPr wrap="square" lIns="0" tIns="66156" rIns="0" bIns="0" rtlCol="0" anchor="t">
            <a:normAutofit/>
          </a:bodyPr>
          <a:lstStyle/>
          <a:p>
            <a:pPr marL="264160" indent="-264160" algn="l">
              <a:lnSpc>
                <a:spcPct val="133000"/>
              </a:lnSpc>
              <a:buSzPct val="100000"/>
              <a:buChar char="•"/>
            </a:pPr>
            <a:r>
              <a:rPr lang="en-US" sz="1300" dirty="0">
                <a:solidFill>
                  <a:srgbClr val="000000"/>
                </a:solidFill>
                <a:latin typeface="Open Sans" pitchFamily="34" charset="0"/>
                <a:ea typeface="Open Sans" pitchFamily="34" charset="-122"/>
                <a:cs typeface="Open Sans" pitchFamily="34" charset="-120"/>
              </a:rPr>
              <a:t>Understand how Nestivo performs across major global cities</a:t>
            </a:r>
            <a:endParaRPr lang="en-US" sz="1300" dirty="0"/>
          </a:p>
          <a:p>
            <a:pPr marL="264160" indent="-264160" algn="l">
              <a:lnSpc>
                <a:spcPct val="133000"/>
              </a:lnSpc>
              <a:buSzPct val="100000"/>
              <a:buChar char="•"/>
            </a:pPr>
            <a:r>
              <a:rPr lang="en-US" sz="1300" dirty="0">
                <a:solidFill>
                  <a:srgbClr val="000000"/>
                </a:solidFill>
                <a:latin typeface="Open Sans" pitchFamily="34" charset="0"/>
                <a:ea typeface="Open Sans" pitchFamily="34" charset="-122"/>
                <a:cs typeface="Open Sans" pitchFamily="34" charset="-120"/>
              </a:rPr>
              <a:t>Identify where supply is concentrated and how the business has grown over time</a:t>
            </a:r>
            <a:endParaRPr lang="en-US" sz="1300" dirty="0"/>
          </a:p>
          <a:p>
            <a:pPr marL="264160" indent="-264160" algn="l">
              <a:lnSpc>
                <a:spcPct val="133000"/>
              </a:lnSpc>
              <a:buSzPct val="100000"/>
              <a:buChar char="•"/>
            </a:pPr>
            <a:r>
              <a:rPr lang="en-US" sz="1300" dirty="0">
                <a:solidFill>
                  <a:srgbClr val="000000"/>
                </a:solidFill>
                <a:latin typeface="Open Sans" pitchFamily="34" charset="0"/>
                <a:ea typeface="Open Sans" pitchFamily="34" charset="-122"/>
                <a:cs typeface="Open Sans" pitchFamily="34" charset="-120"/>
              </a:rPr>
              <a:t>Compare pricing, guest experience, and host trust across the platform</a:t>
            </a:r>
            <a:endParaRPr lang="en-US" sz="1300" dirty="0"/>
          </a:p>
        </p:txBody>
      </p:sp>
      <p:sp>
        <p:nvSpPr>
          <p:cNvPr id="9" name="Text 6"/>
          <p:cNvSpPr/>
          <p:nvPr/>
        </p:nvSpPr>
        <p:spPr>
          <a:xfrm>
            <a:off x="6303904" y="4189611"/>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403C4E"/>
                </a:solidFill>
                <a:latin typeface="Merriweather Bold" pitchFamily="34" charset="0"/>
                <a:ea typeface="Merriweather Bold" pitchFamily="34" charset="-122"/>
                <a:cs typeface="Merriweather Bold" pitchFamily="34" charset="-120"/>
              </a:rPr>
              <a:t>Dashboard Pages Included</a:t>
            </a:r>
            <a:endParaRPr lang="en-US" sz="1600" dirty="0"/>
          </a:p>
        </p:txBody>
      </p:sp>
      <p:sp>
        <p:nvSpPr>
          <p:cNvPr id="10" name="Shape 7"/>
          <p:cNvSpPr/>
          <p:nvPr/>
        </p:nvSpPr>
        <p:spPr>
          <a:xfrm>
            <a:off x="6303904" y="4634111"/>
            <a:ext cx="2533686" cy="1296293"/>
          </a:xfrm>
          <a:prstGeom prst="roundRect">
            <a:avLst>
              <a:gd name="adj" fmla="val 5359"/>
            </a:avLst>
          </a:prstGeom>
          <a:solidFill>
            <a:srgbClr val="FFD8CC"/>
          </a:solidFill>
          <a:ln w="6350">
            <a:solidFill>
              <a:srgbClr val="E5BEB2"/>
            </a:solidFill>
            <a:prstDash val="solid"/>
          </a:ln>
        </p:spPr>
      </p:sp>
      <p:sp>
        <p:nvSpPr>
          <p:cNvPr id="11" name="Text 8"/>
          <p:cNvSpPr/>
          <p:nvPr/>
        </p:nvSpPr>
        <p:spPr>
          <a:xfrm>
            <a:off x="6475548" y="4805759"/>
            <a:ext cx="2190398" cy="258465"/>
          </a:xfrm>
          <a:prstGeom prst="rect">
            <a:avLst/>
          </a:prstGeom>
          <a:noFill/>
          <a:ln/>
        </p:spPr>
        <p:txBody>
          <a:bodyPr wrap="none" lIns="0" tIns="0" rIns="0" bIns="0" rtlCol="0" anchor="t"/>
          <a:lstStyle/>
          <a:p>
            <a:pPr marL="0" indent="0" algn="l">
              <a:lnSpc>
                <a:spcPct val="104000"/>
              </a:lnSpc>
              <a:buNone/>
            </a:pPr>
            <a:r>
              <a:rPr lang="en-US" sz="1600" b="1" dirty="0">
                <a:solidFill>
                  <a:srgbClr val="403C4E"/>
                </a:solidFill>
                <a:latin typeface="Merriweather Bold" pitchFamily="34" charset="0"/>
                <a:ea typeface="Merriweather Bold" pitchFamily="34" charset="-122"/>
                <a:cs typeface="Merriweather Bold" pitchFamily="34" charset="-120"/>
              </a:rPr>
              <a:t>Executive Overview</a:t>
            </a:r>
            <a:endParaRPr lang="en-US" sz="1600" dirty="0"/>
          </a:p>
        </p:txBody>
      </p:sp>
      <p:sp>
        <p:nvSpPr>
          <p:cNvPr id="12" name="Text 9"/>
          <p:cNvSpPr/>
          <p:nvPr/>
        </p:nvSpPr>
        <p:spPr>
          <a:xfrm>
            <a:off x="6475548" y="5229523"/>
            <a:ext cx="219039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03C4E"/>
                </a:solidFill>
                <a:latin typeface="Open Sans" pitchFamily="34" charset="0"/>
                <a:ea typeface="Open Sans" pitchFamily="34" charset="-122"/>
                <a:cs typeface="Open Sans" pitchFamily="34" charset="-120"/>
              </a:rPr>
              <a:t>Scale, growth, market concentration, and pricing</a:t>
            </a:r>
            <a:endParaRPr lang="en-US" sz="1300" dirty="0"/>
          </a:p>
        </p:txBody>
      </p:sp>
      <p:sp>
        <p:nvSpPr>
          <p:cNvPr id="13" name="Shape 10"/>
          <p:cNvSpPr/>
          <p:nvPr/>
        </p:nvSpPr>
        <p:spPr>
          <a:xfrm>
            <a:off x="9002884" y="4634111"/>
            <a:ext cx="2533686" cy="1296293"/>
          </a:xfrm>
          <a:prstGeom prst="roundRect">
            <a:avLst>
              <a:gd name="adj" fmla="val 5359"/>
            </a:avLst>
          </a:prstGeom>
          <a:solidFill>
            <a:srgbClr val="FFD8CC"/>
          </a:solidFill>
          <a:ln w="6350">
            <a:solidFill>
              <a:srgbClr val="E5BEB2"/>
            </a:solidFill>
            <a:prstDash val="solid"/>
          </a:ln>
        </p:spPr>
      </p:sp>
      <p:sp>
        <p:nvSpPr>
          <p:cNvPr id="14" name="Text 11"/>
          <p:cNvSpPr/>
          <p:nvPr/>
        </p:nvSpPr>
        <p:spPr>
          <a:xfrm>
            <a:off x="9174528" y="4805759"/>
            <a:ext cx="2190398" cy="258465"/>
          </a:xfrm>
          <a:prstGeom prst="rect">
            <a:avLst/>
          </a:prstGeom>
          <a:noFill/>
          <a:ln/>
        </p:spPr>
        <p:txBody>
          <a:bodyPr wrap="none" lIns="0" tIns="0" rIns="0" bIns="0" rtlCol="0" anchor="t"/>
          <a:lstStyle/>
          <a:p>
            <a:pPr marL="0" indent="0" algn="l">
              <a:lnSpc>
                <a:spcPct val="104000"/>
              </a:lnSpc>
              <a:buNone/>
            </a:pPr>
            <a:r>
              <a:rPr lang="en-US" sz="1600" b="1" dirty="0">
                <a:solidFill>
                  <a:srgbClr val="403C4E"/>
                </a:solidFill>
                <a:latin typeface="Merriweather Bold" pitchFamily="34" charset="0"/>
                <a:ea typeface="Merriweather Bold" pitchFamily="34" charset="-122"/>
                <a:cs typeface="Merriweather Bold" pitchFamily="34" charset="-120"/>
              </a:rPr>
              <a:t>Ratings &amp; Reviews</a:t>
            </a:r>
            <a:endParaRPr lang="en-US" sz="1600" dirty="0"/>
          </a:p>
        </p:txBody>
      </p:sp>
      <p:sp>
        <p:nvSpPr>
          <p:cNvPr id="15" name="Text 12"/>
          <p:cNvSpPr/>
          <p:nvPr/>
        </p:nvSpPr>
        <p:spPr>
          <a:xfrm>
            <a:off x="9174528" y="5229523"/>
            <a:ext cx="219039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03C4E"/>
                </a:solidFill>
                <a:latin typeface="Open Sans" pitchFamily="34" charset="0"/>
                <a:ea typeface="Open Sans" pitchFamily="34" charset="-122"/>
                <a:cs typeface="Open Sans" pitchFamily="34" charset="-120"/>
              </a:rPr>
              <a:t>Overall ratings, detailed dimensions, and seasonality</a:t>
            </a:r>
            <a:endParaRPr lang="en-US" sz="1300" dirty="0"/>
          </a:p>
        </p:txBody>
      </p:sp>
      <p:sp>
        <p:nvSpPr>
          <p:cNvPr id="16" name="Rectangle 15">
            <a:extLst>
              <a:ext uri="{FF2B5EF4-FFF2-40B4-BE49-F238E27FC236}">
                <a16:creationId xmlns:a16="http://schemas.microsoft.com/office/drawing/2014/main" id="{6EFE3B97-8D0E-FB1A-7E27-B1E8DCBB79F3}"/>
              </a:ext>
            </a:extLst>
          </p:cNvPr>
          <p:cNvSpPr/>
          <p:nvPr/>
        </p:nvSpPr>
        <p:spPr>
          <a:xfrm>
            <a:off x="11052202" y="6521573"/>
            <a:ext cx="1106752" cy="31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486172"/>
            <a:ext cx="10868745" cy="419894"/>
          </a:xfrm>
          <a:prstGeom prst="rect">
            <a:avLst/>
          </a:prstGeom>
          <a:noFill/>
          <a:ln/>
        </p:spPr>
        <p:txBody>
          <a:bodyPr wrap="none" lIns="0" tIns="0" rIns="0" bIns="0" rtlCol="0" anchor="t"/>
          <a:lstStyle/>
          <a:p>
            <a:pPr marL="0" indent="0" algn="l">
              <a:lnSpc>
                <a:spcPct val="104000"/>
              </a:lnSpc>
              <a:buNone/>
            </a:pPr>
            <a:r>
              <a:rPr lang="en-US" sz="2600" b="1" dirty="0">
                <a:solidFill>
                  <a:srgbClr val="403C4E"/>
                </a:solidFill>
                <a:latin typeface="Merriweather Bold" pitchFamily="34" charset="0"/>
                <a:ea typeface="Merriweather Bold" pitchFamily="34" charset="-122"/>
                <a:cs typeface="Merriweather Bold" pitchFamily="34" charset="-120"/>
              </a:rPr>
              <a:t>Nestivo's Scale and Growth</a:t>
            </a:r>
            <a:endParaRPr lang="en-US" sz="2600" dirty="0"/>
          </a:p>
        </p:txBody>
      </p:sp>
      <p:sp>
        <p:nvSpPr>
          <p:cNvPr id="3" name="Text 1"/>
          <p:cNvSpPr/>
          <p:nvPr/>
        </p:nvSpPr>
        <p:spPr>
          <a:xfrm>
            <a:off x="661475" y="1178917"/>
            <a:ext cx="5270467" cy="209947"/>
          </a:xfrm>
          <a:prstGeom prst="rect">
            <a:avLst/>
          </a:prstGeom>
          <a:noFill/>
          <a:ln/>
        </p:spPr>
        <p:txBody>
          <a:bodyPr wrap="none" lIns="0" tIns="0" rIns="0" bIns="0" rtlCol="0" anchor="t"/>
          <a:lstStyle/>
          <a:p>
            <a:pPr marL="0" indent="0" algn="l">
              <a:lnSpc>
                <a:spcPct val="104000"/>
              </a:lnSpc>
              <a:buNone/>
            </a:pPr>
            <a:r>
              <a:rPr lang="en-US" sz="1300" b="1" dirty="0">
                <a:solidFill>
                  <a:srgbClr val="403C4E"/>
                </a:solidFill>
                <a:latin typeface="Merriweather Bold" pitchFamily="34" charset="0"/>
                <a:ea typeface="Merriweather Bold" pitchFamily="34" charset="-122"/>
                <a:cs typeface="Merriweather Bold" pitchFamily="34" charset="-120"/>
              </a:rPr>
              <a:t>Q1: How big is Nestivo's presence across major global cities?</a:t>
            </a:r>
            <a:endParaRPr lang="en-US" sz="1300" dirty="0"/>
          </a:p>
        </p:txBody>
      </p:sp>
      <p:sp>
        <p:nvSpPr>
          <p:cNvPr id="4" name="Text 2"/>
          <p:cNvSpPr/>
          <p:nvPr/>
        </p:nvSpPr>
        <p:spPr>
          <a:xfrm>
            <a:off x="661475" y="1498005"/>
            <a:ext cx="5270467" cy="584299"/>
          </a:xfrm>
          <a:prstGeom prst="rect">
            <a:avLst/>
          </a:prstGeom>
          <a:noFill/>
          <a:ln/>
        </p:spPr>
        <p:txBody>
          <a:bodyPr wrap="square" lIns="0" tIns="0" rIns="0" bIns="0" rtlCol="0" anchor="t">
            <a:normAutofit/>
          </a:bodyPr>
          <a:lstStyle/>
          <a:p>
            <a:pPr marL="0" indent="0" algn="l">
              <a:lnSpc>
                <a:spcPct val="121000"/>
              </a:lnSpc>
              <a:buNone/>
            </a:pPr>
            <a:r>
              <a:rPr lang="en-US" sz="1050" dirty="0">
                <a:solidFill>
                  <a:srgbClr val="403C4E"/>
                </a:solidFill>
                <a:latin typeface="Open Sans" pitchFamily="34" charset="0"/>
                <a:ea typeface="Open Sans" pitchFamily="34" charset="-122"/>
                <a:cs typeface="Open Sans" pitchFamily="34" charset="-120"/>
              </a:rPr>
              <a:t>Nestivo shows a large presence with </a:t>
            </a:r>
            <a:r>
              <a:rPr lang="en-US" sz="1050" b="1" dirty="0">
                <a:solidFill>
                  <a:srgbClr val="403C4E"/>
                </a:solidFill>
                <a:latin typeface="Open Sans Bold" pitchFamily="34" charset="0"/>
                <a:ea typeface="Open Sans Bold" pitchFamily="34" charset="-122"/>
                <a:cs typeface="Open Sans Bold" pitchFamily="34" charset="-120"/>
              </a:rPr>
              <a:t>279,712 listings</a:t>
            </a:r>
            <a:r>
              <a:rPr lang="en-US" sz="1050" dirty="0">
                <a:solidFill>
                  <a:srgbClr val="403C4E"/>
                </a:solidFill>
                <a:latin typeface="Open Sans" pitchFamily="34" charset="0"/>
                <a:ea typeface="Open Sans" pitchFamily="34" charset="-122"/>
                <a:cs typeface="Open Sans" pitchFamily="34" charset="-120"/>
              </a:rPr>
              <a:t>, </a:t>
            </a:r>
            <a:r>
              <a:rPr lang="en-US" sz="1050" b="1" dirty="0">
                <a:solidFill>
                  <a:srgbClr val="403C4E"/>
                </a:solidFill>
                <a:latin typeface="Open Sans Bold" pitchFamily="34" charset="0"/>
                <a:ea typeface="Open Sans Bold" pitchFamily="34" charset="-122"/>
                <a:cs typeface="Open Sans Bold" pitchFamily="34" charset="-120"/>
              </a:rPr>
              <a:t>10 cities</a:t>
            </a:r>
            <a:r>
              <a:rPr lang="en-US" sz="1050" dirty="0">
                <a:solidFill>
                  <a:srgbClr val="403C4E"/>
                </a:solidFill>
                <a:latin typeface="Open Sans" pitchFamily="34" charset="0"/>
                <a:ea typeface="Open Sans" pitchFamily="34" charset="-122"/>
                <a:cs typeface="Open Sans" pitchFamily="34" charset="-120"/>
              </a:rPr>
              <a:t>, </a:t>
            </a:r>
            <a:r>
              <a:rPr lang="en-US" sz="1050" b="1" dirty="0">
                <a:solidFill>
                  <a:srgbClr val="403C4E"/>
                </a:solidFill>
                <a:latin typeface="Open Sans Bold" pitchFamily="34" charset="0"/>
                <a:ea typeface="Open Sans Bold" pitchFamily="34" charset="-122"/>
                <a:cs typeface="Open Sans Bold" pitchFamily="34" charset="-120"/>
              </a:rPr>
              <a:t>182,024 hosts</a:t>
            </a:r>
            <a:r>
              <a:rPr lang="en-US" sz="1050" dirty="0">
                <a:solidFill>
                  <a:srgbClr val="403C4E"/>
                </a:solidFill>
                <a:latin typeface="Open Sans" pitchFamily="34" charset="0"/>
                <a:ea typeface="Open Sans" pitchFamily="34" charset="-122"/>
                <a:cs typeface="Open Sans" pitchFamily="34" charset="-120"/>
              </a:rPr>
              <a:t>, </a:t>
            </a:r>
            <a:r>
              <a:rPr lang="en-US" sz="1050" b="1" dirty="0">
                <a:solidFill>
                  <a:srgbClr val="403C4E"/>
                </a:solidFill>
                <a:latin typeface="Open Sans Bold" pitchFamily="34" charset="0"/>
                <a:ea typeface="Open Sans Bold" pitchFamily="34" charset="-122"/>
                <a:cs typeface="Open Sans Bold" pitchFamily="34" charset="-120"/>
              </a:rPr>
              <a:t>144 property types</a:t>
            </a:r>
            <a:r>
              <a:rPr lang="en-US" sz="1050" dirty="0">
                <a:solidFill>
                  <a:srgbClr val="403C4E"/>
                </a:solidFill>
                <a:latin typeface="Open Sans" pitchFamily="34" charset="0"/>
                <a:ea typeface="Open Sans" pitchFamily="34" charset="-122"/>
                <a:cs typeface="Open Sans" pitchFamily="34" charset="-120"/>
              </a:rPr>
              <a:t>, and about </a:t>
            </a:r>
            <a:r>
              <a:rPr lang="en-US" sz="1050" b="1" dirty="0">
                <a:solidFill>
                  <a:srgbClr val="403C4E"/>
                </a:solidFill>
                <a:latin typeface="Open Sans Bold" pitchFamily="34" charset="0"/>
                <a:ea typeface="Open Sans Bold" pitchFamily="34" charset="-122"/>
                <a:cs typeface="Open Sans Bold" pitchFamily="34" charset="-120"/>
              </a:rPr>
              <a:t>5,373K reviews</a:t>
            </a:r>
            <a:r>
              <a:rPr lang="en-US" sz="1050" dirty="0">
                <a:solidFill>
                  <a:srgbClr val="403C4E"/>
                </a:solidFill>
                <a:latin typeface="Open Sans" pitchFamily="34" charset="0"/>
                <a:ea typeface="Open Sans" pitchFamily="34" charset="-122"/>
                <a:cs typeface="Open Sans" pitchFamily="34" charset="-120"/>
              </a:rPr>
              <a:t>. This shows that the platform already has strong scale and a broad operating base.</a:t>
            </a:r>
            <a:endParaRPr lang="en-US" sz="1050" dirty="0"/>
          </a:p>
        </p:txBody>
      </p:sp>
      <p:sp>
        <p:nvSpPr>
          <p:cNvPr id="5" name="Shape 3"/>
          <p:cNvSpPr/>
          <p:nvPr/>
        </p:nvSpPr>
        <p:spPr>
          <a:xfrm>
            <a:off x="661475" y="2414389"/>
            <a:ext cx="5270467" cy="19050"/>
          </a:xfrm>
          <a:prstGeom prst="rect">
            <a:avLst/>
          </a:prstGeom>
          <a:solidFill>
            <a:srgbClr val="FFAD94"/>
          </a:solidFill>
          <a:ln/>
        </p:spPr>
      </p:sp>
      <p:sp>
        <p:nvSpPr>
          <p:cNvPr id="6" name="Text 4"/>
          <p:cNvSpPr/>
          <p:nvPr/>
        </p:nvSpPr>
        <p:spPr>
          <a:xfrm>
            <a:off x="661475" y="2519660"/>
            <a:ext cx="5270467" cy="209947"/>
          </a:xfrm>
          <a:prstGeom prst="rect">
            <a:avLst/>
          </a:prstGeom>
          <a:noFill/>
          <a:ln/>
        </p:spPr>
        <p:txBody>
          <a:bodyPr wrap="none" lIns="0" tIns="0" rIns="0" bIns="0" rtlCol="0" anchor="t"/>
          <a:lstStyle/>
          <a:p>
            <a:pPr marL="0" indent="0" algn="ctr">
              <a:lnSpc>
                <a:spcPct val="104000"/>
              </a:lnSpc>
              <a:buNone/>
            </a:pPr>
            <a:r>
              <a:rPr lang="en-US" sz="1300" b="1" dirty="0">
                <a:solidFill>
                  <a:srgbClr val="403C4E"/>
                </a:solidFill>
                <a:latin typeface="Merriweather Bold" pitchFamily="34" charset="0"/>
                <a:ea typeface="Merriweather Bold" pitchFamily="34" charset="-122"/>
                <a:cs typeface="Merriweather Bold" pitchFamily="34" charset="-120"/>
              </a:rPr>
              <a:t>Total Listings</a:t>
            </a:r>
            <a:endParaRPr lang="en-US" sz="1300" dirty="0"/>
          </a:p>
        </p:txBody>
      </p:sp>
      <p:sp>
        <p:nvSpPr>
          <p:cNvPr id="7" name="Text 5"/>
          <p:cNvSpPr/>
          <p:nvPr/>
        </p:nvSpPr>
        <p:spPr>
          <a:xfrm>
            <a:off x="661475" y="2838748"/>
            <a:ext cx="5270467" cy="194766"/>
          </a:xfrm>
          <a:prstGeom prst="rect">
            <a:avLst/>
          </a:prstGeom>
          <a:noFill/>
          <a:ln/>
        </p:spPr>
        <p:txBody>
          <a:bodyPr wrap="none" lIns="0" tIns="0" rIns="0" bIns="0" rtlCol="0" anchor="t"/>
          <a:lstStyle/>
          <a:p>
            <a:pPr marL="0" indent="0" algn="ctr">
              <a:lnSpc>
                <a:spcPct val="121000"/>
              </a:lnSpc>
              <a:buNone/>
            </a:pPr>
            <a:r>
              <a:rPr lang="en-US" sz="1050" dirty="0">
                <a:solidFill>
                  <a:srgbClr val="403C4E"/>
                </a:solidFill>
                <a:latin typeface="Open Sans" pitchFamily="34" charset="0"/>
                <a:ea typeface="Open Sans" pitchFamily="34" charset="-122"/>
                <a:cs typeface="Open Sans" pitchFamily="34" charset="-120"/>
              </a:rPr>
              <a:t>279K</a:t>
            </a:r>
            <a:endParaRPr lang="en-US" sz="1050" dirty="0"/>
          </a:p>
        </p:txBody>
      </p:sp>
      <p:sp>
        <p:nvSpPr>
          <p:cNvPr id="8" name="Shape 6"/>
          <p:cNvSpPr/>
          <p:nvPr/>
        </p:nvSpPr>
        <p:spPr>
          <a:xfrm>
            <a:off x="661475" y="3452614"/>
            <a:ext cx="5270467" cy="19050"/>
          </a:xfrm>
          <a:prstGeom prst="rect">
            <a:avLst/>
          </a:prstGeom>
          <a:solidFill>
            <a:srgbClr val="FFAD94"/>
          </a:solidFill>
          <a:ln/>
        </p:spPr>
      </p:sp>
      <p:sp>
        <p:nvSpPr>
          <p:cNvPr id="9" name="Text 7"/>
          <p:cNvSpPr/>
          <p:nvPr/>
        </p:nvSpPr>
        <p:spPr>
          <a:xfrm>
            <a:off x="661475" y="3557885"/>
            <a:ext cx="5270467" cy="209947"/>
          </a:xfrm>
          <a:prstGeom prst="rect">
            <a:avLst/>
          </a:prstGeom>
          <a:noFill/>
          <a:ln/>
        </p:spPr>
        <p:txBody>
          <a:bodyPr wrap="none" lIns="0" tIns="0" rIns="0" bIns="0" rtlCol="0" anchor="t"/>
          <a:lstStyle/>
          <a:p>
            <a:pPr marL="0" indent="0" algn="ctr">
              <a:lnSpc>
                <a:spcPct val="104000"/>
              </a:lnSpc>
              <a:buNone/>
            </a:pPr>
            <a:r>
              <a:rPr lang="en-US" sz="1300" b="1" dirty="0">
                <a:solidFill>
                  <a:srgbClr val="403C4E"/>
                </a:solidFill>
                <a:latin typeface="Merriweather Bold" pitchFamily="34" charset="0"/>
                <a:ea typeface="Merriweather Bold" pitchFamily="34" charset="-122"/>
                <a:cs typeface="Merriweather Bold" pitchFamily="34" charset="-120"/>
              </a:rPr>
              <a:t>Total Hosts</a:t>
            </a:r>
            <a:endParaRPr lang="en-US" sz="1300" dirty="0"/>
          </a:p>
        </p:txBody>
      </p:sp>
      <p:sp>
        <p:nvSpPr>
          <p:cNvPr id="10" name="Text 8"/>
          <p:cNvSpPr/>
          <p:nvPr/>
        </p:nvSpPr>
        <p:spPr>
          <a:xfrm>
            <a:off x="661475" y="3876973"/>
            <a:ext cx="5270467" cy="194766"/>
          </a:xfrm>
          <a:prstGeom prst="rect">
            <a:avLst/>
          </a:prstGeom>
          <a:noFill/>
          <a:ln/>
        </p:spPr>
        <p:txBody>
          <a:bodyPr wrap="none" lIns="0" tIns="0" rIns="0" bIns="0" rtlCol="0" anchor="t"/>
          <a:lstStyle/>
          <a:p>
            <a:pPr marL="0" indent="0" algn="ctr">
              <a:lnSpc>
                <a:spcPct val="121000"/>
              </a:lnSpc>
              <a:buNone/>
            </a:pPr>
            <a:r>
              <a:rPr lang="en-US" sz="1050" dirty="0">
                <a:solidFill>
                  <a:srgbClr val="403C4E"/>
                </a:solidFill>
                <a:latin typeface="Open Sans" pitchFamily="34" charset="0"/>
                <a:ea typeface="Open Sans" pitchFamily="34" charset="-122"/>
                <a:cs typeface="Open Sans" pitchFamily="34" charset="-120"/>
              </a:rPr>
              <a:t>182K</a:t>
            </a:r>
            <a:endParaRPr lang="en-US" sz="1050" dirty="0"/>
          </a:p>
        </p:txBody>
      </p:sp>
      <p:sp>
        <p:nvSpPr>
          <p:cNvPr id="11" name="Shape 9"/>
          <p:cNvSpPr/>
          <p:nvPr/>
        </p:nvSpPr>
        <p:spPr>
          <a:xfrm>
            <a:off x="661475" y="4490839"/>
            <a:ext cx="5270467" cy="19050"/>
          </a:xfrm>
          <a:prstGeom prst="rect">
            <a:avLst/>
          </a:prstGeom>
          <a:solidFill>
            <a:srgbClr val="FFAD94"/>
          </a:solidFill>
          <a:ln/>
        </p:spPr>
      </p:sp>
      <p:sp>
        <p:nvSpPr>
          <p:cNvPr id="12" name="Text 10"/>
          <p:cNvSpPr/>
          <p:nvPr/>
        </p:nvSpPr>
        <p:spPr>
          <a:xfrm>
            <a:off x="661475" y="4596110"/>
            <a:ext cx="5270467" cy="209947"/>
          </a:xfrm>
          <a:prstGeom prst="rect">
            <a:avLst/>
          </a:prstGeom>
          <a:noFill/>
          <a:ln/>
        </p:spPr>
        <p:txBody>
          <a:bodyPr wrap="none" lIns="0" tIns="0" rIns="0" bIns="0" rtlCol="0" anchor="t"/>
          <a:lstStyle/>
          <a:p>
            <a:pPr marL="0" indent="0" algn="ctr">
              <a:lnSpc>
                <a:spcPct val="104000"/>
              </a:lnSpc>
              <a:buNone/>
            </a:pPr>
            <a:r>
              <a:rPr lang="en-US" sz="1300" b="1" dirty="0">
                <a:solidFill>
                  <a:srgbClr val="403C4E"/>
                </a:solidFill>
                <a:latin typeface="Merriweather Bold" pitchFamily="34" charset="0"/>
                <a:ea typeface="Merriweather Bold" pitchFamily="34" charset="-122"/>
                <a:cs typeface="Merriweather Bold" pitchFamily="34" charset="-120"/>
              </a:rPr>
              <a:t>Total Reviews</a:t>
            </a:r>
            <a:endParaRPr lang="en-US" sz="1300" dirty="0"/>
          </a:p>
        </p:txBody>
      </p:sp>
      <p:sp>
        <p:nvSpPr>
          <p:cNvPr id="13" name="Text 11"/>
          <p:cNvSpPr/>
          <p:nvPr/>
        </p:nvSpPr>
        <p:spPr>
          <a:xfrm>
            <a:off x="661475" y="4915198"/>
            <a:ext cx="5270467" cy="194766"/>
          </a:xfrm>
          <a:prstGeom prst="rect">
            <a:avLst/>
          </a:prstGeom>
          <a:noFill/>
          <a:ln/>
        </p:spPr>
        <p:txBody>
          <a:bodyPr wrap="none" lIns="0" tIns="0" rIns="0" bIns="0" rtlCol="0" anchor="t"/>
          <a:lstStyle/>
          <a:p>
            <a:pPr marL="0" indent="0" algn="ctr">
              <a:lnSpc>
                <a:spcPct val="121000"/>
              </a:lnSpc>
              <a:buNone/>
            </a:pPr>
            <a:r>
              <a:rPr lang="en-US" sz="1050" dirty="0">
                <a:solidFill>
                  <a:srgbClr val="403C4E"/>
                </a:solidFill>
                <a:latin typeface="Open Sans" pitchFamily="34" charset="0"/>
                <a:ea typeface="Open Sans" pitchFamily="34" charset="-122"/>
                <a:cs typeface="Open Sans" pitchFamily="34" charset="-120"/>
              </a:rPr>
              <a:t>5.4M</a:t>
            </a:r>
            <a:endParaRPr lang="en-US" sz="1050" dirty="0"/>
          </a:p>
        </p:txBody>
      </p:sp>
      <p:sp>
        <p:nvSpPr>
          <p:cNvPr id="14" name="Shape 12"/>
          <p:cNvSpPr/>
          <p:nvPr/>
        </p:nvSpPr>
        <p:spPr>
          <a:xfrm>
            <a:off x="661475" y="5529064"/>
            <a:ext cx="5270467" cy="19050"/>
          </a:xfrm>
          <a:prstGeom prst="rect">
            <a:avLst/>
          </a:prstGeom>
          <a:solidFill>
            <a:srgbClr val="FFAD94"/>
          </a:solidFill>
          <a:ln/>
        </p:spPr>
      </p:sp>
      <p:sp>
        <p:nvSpPr>
          <p:cNvPr id="15" name="Text 13"/>
          <p:cNvSpPr/>
          <p:nvPr/>
        </p:nvSpPr>
        <p:spPr>
          <a:xfrm>
            <a:off x="661475" y="5634335"/>
            <a:ext cx="5270467" cy="209947"/>
          </a:xfrm>
          <a:prstGeom prst="rect">
            <a:avLst/>
          </a:prstGeom>
          <a:noFill/>
          <a:ln/>
        </p:spPr>
        <p:txBody>
          <a:bodyPr wrap="none" lIns="0" tIns="0" rIns="0" bIns="0" rtlCol="0" anchor="t"/>
          <a:lstStyle/>
          <a:p>
            <a:pPr marL="0" indent="0" algn="ctr">
              <a:lnSpc>
                <a:spcPct val="104000"/>
              </a:lnSpc>
              <a:buNone/>
            </a:pPr>
            <a:r>
              <a:rPr lang="en-US" sz="1300" b="1" dirty="0">
                <a:solidFill>
                  <a:srgbClr val="403C4E"/>
                </a:solidFill>
                <a:latin typeface="Merriweather Bold" pitchFamily="34" charset="0"/>
                <a:ea typeface="Merriweather Bold" pitchFamily="34" charset="-122"/>
                <a:cs typeface="Merriweather Bold" pitchFamily="34" charset="-120"/>
              </a:rPr>
              <a:t>Cities</a:t>
            </a:r>
            <a:endParaRPr lang="en-US" sz="1300" dirty="0"/>
          </a:p>
        </p:txBody>
      </p:sp>
      <p:sp>
        <p:nvSpPr>
          <p:cNvPr id="16" name="Text 14"/>
          <p:cNvSpPr/>
          <p:nvPr/>
        </p:nvSpPr>
        <p:spPr>
          <a:xfrm>
            <a:off x="661475" y="5953423"/>
            <a:ext cx="5270467" cy="194766"/>
          </a:xfrm>
          <a:prstGeom prst="rect">
            <a:avLst/>
          </a:prstGeom>
          <a:noFill/>
          <a:ln/>
        </p:spPr>
        <p:txBody>
          <a:bodyPr wrap="none" lIns="0" tIns="0" rIns="0" bIns="0" rtlCol="0" anchor="t"/>
          <a:lstStyle/>
          <a:p>
            <a:pPr marL="0" indent="0" algn="ctr">
              <a:lnSpc>
                <a:spcPct val="121000"/>
              </a:lnSpc>
              <a:buNone/>
            </a:pPr>
            <a:r>
              <a:rPr lang="en-US" sz="1050" dirty="0">
                <a:solidFill>
                  <a:srgbClr val="403C4E"/>
                </a:solidFill>
                <a:latin typeface="Open Sans" pitchFamily="34" charset="0"/>
                <a:ea typeface="Open Sans" pitchFamily="34" charset="-122"/>
                <a:cs typeface="Open Sans" pitchFamily="34" charset="-120"/>
              </a:rPr>
              <a:t>10</a:t>
            </a:r>
            <a:endParaRPr lang="en-US" sz="1050" dirty="0"/>
          </a:p>
        </p:txBody>
      </p:sp>
      <p:pic>
        <p:nvPicPr>
          <p:cNvPr id="17" name="Image 0" descr="preencoded.png"/>
          <p:cNvPicPr>
            <a:picLocks noChangeAspect="1"/>
          </p:cNvPicPr>
          <p:nvPr/>
        </p:nvPicPr>
        <p:blipFill>
          <a:blip r:embed="rId3"/>
          <a:stretch>
            <a:fillRect/>
          </a:stretch>
        </p:blipFill>
        <p:spPr>
          <a:xfrm>
            <a:off x="6266103" y="1192609"/>
            <a:ext cx="4248937" cy="2998490"/>
          </a:xfrm>
          <a:prstGeom prst="rect">
            <a:avLst/>
          </a:prstGeom>
        </p:spPr>
      </p:pic>
      <p:sp>
        <p:nvSpPr>
          <p:cNvPr id="18" name="Text 15"/>
          <p:cNvSpPr/>
          <p:nvPr/>
        </p:nvSpPr>
        <p:spPr>
          <a:xfrm>
            <a:off x="6266103" y="4313932"/>
            <a:ext cx="5270467" cy="209947"/>
          </a:xfrm>
          <a:prstGeom prst="rect">
            <a:avLst/>
          </a:prstGeom>
          <a:noFill/>
          <a:ln/>
        </p:spPr>
        <p:txBody>
          <a:bodyPr wrap="none" lIns="0" tIns="0" rIns="0" bIns="0" rtlCol="0" anchor="t"/>
          <a:lstStyle/>
          <a:p>
            <a:pPr marL="0" indent="0" algn="l">
              <a:lnSpc>
                <a:spcPct val="104000"/>
              </a:lnSpc>
              <a:buNone/>
            </a:pPr>
            <a:r>
              <a:rPr lang="en-US" sz="1300" b="1" dirty="0">
                <a:solidFill>
                  <a:srgbClr val="403C4E"/>
                </a:solidFill>
                <a:latin typeface="Merriweather Bold" pitchFamily="34" charset="0"/>
                <a:ea typeface="Merriweather Bold" pitchFamily="34" charset="-122"/>
                <a:cs typeface="Merriweather Bold" pitchFamily="34" charset="-120"/>
              </a:rPr>
              <a:t>Q2: How has Nestivo grown over time and where did it peak?</a:t>
            </a:r>
            <a:endParaRPr lang="en-US" sz="1300" dirty="0"/>
          </a:p>
        </p:txBody>
      </p:sp>
      <p:sp>
        <p:nvSpPr>
          <p:cNvPr id="19" name="Text 16"/>
          <p:cNvSpPr/>
          <p:nvPr/>
        </p:nvSpPr>
        <p:spPr>
          <a:xfrm>
            <a:off x="6266103" y="4633020"/>
            <a:ext cx="5270467" cy="584299"/>
          </a:xfrm>
          <a:prstGeom prst="rect">
            <a:avLst/>
          </a:prstGeom>
          <a:noFill/>
          <a:ln/>
        </p:spPr>
        <p:txBody>
          <a:bodyPr wrap="square" lIns="0" tIns="0" rIns="0" bIns="0" rtlCol="0" anchor="t">
            <a:normAutofit/>
          </a:bodyPr>
          <a:lstStyle/>
          <a:p>
            <a:pPr marL="0" indent="0" algn="l">
              <a:lnSpc>
                <a:spcPct val="121000"/>
              </a:lnSpc>
              <a:buNone/>
            </a:pPr>
            <a:r>
              <a:rPr lang="en-US" sz="1050" dirty="0">
                <a:solidFill>
                  <a:srgbClr val="403C4E"/>
                </a:solidFill>
                <a:latin typeface="Open Sans" pitchFamily="34" charset="0"/>
                <a:ea typeface="Open Sans" pitchFamily="34" charset="-122"/>
                <a:cs typeface="Open Sans" pitchFamily="34" charset="-120"/>
              </a:rPr>
              <a:t>The listings trend starts in </a:t>
            </a:r>
            <a:r>
              <a:rPr lang="en-US" sz="1050" b="1" dirty="0">
                <a:solidFill>
                  <a:srgbClr val="403C4E"/>
                </a:solidFill>
                <a:latin typeface="Open Sans Bold" pitchFamily="34" charset="0"/>
                <a:ea typeface="Open Sans Bold" pitchFamily="34" charset="-122"/>
                <a:cs typeface="Open Sans Bold" pitchFamily="34" charset="-120"/>
              </a:rPr>
              <a:t>2008</a:t>
            </a:r>
            <a:r>
              <a:rPr lang="en-US" sz="1050" dirty="0">
                <a:solidFill>
                  <a:srgbClr val="403C4E"/>
                </a:solidFill>
                <a:latin typeface="Open Sans" pitchFamily="34" charset="0"/>
                <a:ea typeface="Open Sans" pitchFamily="34" charset="-122"/>
                <a:cs typeface="Open Sans" pitchFamily="34" charset="-120"/>
              </a:rPr>
              <a:t>, rises sharply through the early and mid-2010s, and peaks around </a:t>
            </a:r>
            <a:r>
              <a:rPr lang="en-US" sz="1050" b="1" dirty="0">
                <a:solidFill>
                  <a:srgbClr val="403C4E"/>
                </a:solidFill>
                <a:latin typeface="Open Sans Bold" pitchFamily="34" charset="0"/>
                <a:ea typeface="Open Sans Bold" pitchFamily="34" charset="-122"/>
                <a:cs typeface="Open Sans Bold" pitchFamily="34" charset="-120"/>
              </a:rPr>
              <a:t>2015 to 2016</a:t>
            </a:r>
            <a:r>
              <a:rPr lang="en-US" sz="1050" dirty="0">
                <a:solidFill>
                  <a:srgbClr val="403C4E"/>
                </a:solidFill>
                <a:latin typeface="Open Sans" pitchFamily="34" charset="0"/>
                <a:ea typeface="Open Sans" pitchFamily="34" charset="-122"/>
                <a:cs typeface="Open Sans" pitchFamily="34" charset="-120"/>
              </a:rPr>
              <a:t>. After that, growth slows and the chart shows a steady decline from </a:t>
            </a:r>
            <a:r>
              <a:rPr lang="en-US" sz="1050" b="1" dirty="0">
                <a:solidFill>
                  <a:srgbClr val="403C4E"/>
                </a:solidFill>
                <a:latin typeface="Open Sans Bold" pitchFamily="34" charset="0"/>
                <a:ea typeface="Open Sans Bold" pitchFamily="34" charset="-122"/>
                <a:cs typeface="Open Sans Bold" pitchFamily="34" charset="-120"/>
              </a:rPr>
              <a:t>2019</a:t>
            </a:r>
            <a:r>
              <a:rPr lang="en-US" sz="1050" dirty="0">
                <a:solidFill>
                  <a:srgbClr val="403C4E"/>
                </a:solidFill>
                <a:latin typeface="Open Sans" pitchFamily="34" charset="0"/>
                <a:ea typeface="Open Sans" pitchFamily="34" charset="-122"/>
                <a:cs typeface="Open Sans" pitchFamily="34" charset="-120"/>
              </a:rPr>
              <a:t>, which likely reflects the effect of the COVID-19 period.</a:t>
            </a:r>
            <a:endParaRPr lang="en-US" sz="1050" dirty="0"/>
          </a:p>
        </p:txBody>
      </p:sp>
      <p:sp>
        <p:nvSpPr>
          <p:cNvPr id="20" name="Shape 17"/>
          <p:cNvSpPr/>
          <p:nvPr/>
        </p:nvSpPr>
        <p:spPr>
          <a:xfrm>
            <a:off x="6266103" y="5340152"/>
            <a:ext cx="5270467" cy="847824"/>
          </a:xfrm>
          <a:prstGeom prst="roundRect">
            <a:avLst>
              <a:gd name="adj" fmla="val 6657"/>
            </a:avLst>
          </a:prstGeom>
          <a:solidFill>
            <a:srgbClr val="FFD8CC"/>
          </a:solidFill>
          <a:ln/>
        </p:spPr>
      </p:sp>
      <p:pic>
        <p:nvPicPr>
          <p:cNvPr id="21" name="Image 1" descr="preencoded.png"/>
          <p:cNvPicPr>
            <a:picLocks noChangeAspect="1"/>
          </p:cNvPicPr>
          <p:nvPr/>
        </p:nvPicPr>
        <p:blipFill>
          <a:blip r:embed="rId4"/>
          <a:stretch>
            <a:fillRect/>
          </a:stretch>
        </p:blipFill>
        <p:spPr>
          <a:xfrm>
            <a:off x="6400441" y="5511304"/>
            <a:ext cx="167973" cy="134342"/>
          </a:xfrm>
          <a:prstGeom prst="rect">
            <a:avLst/>
          </a:prstGeom>
        </p:spPr>
      </p:pic>
      <p:sp>
        <p:nvSpPr>
          <p:cNvPr id="22" name="Text 18"/>
          <p:cNvSpPr/>
          <p:nvPr/>
        </p:nvSpPr>
        <p:spPr>
          <a:xfrm>
            <a:off x="6702753" y="5471914"/>
            <a:ext cx="4699478" cy="584299"/>
          </a:xfrm>
          <a:prstGeom prst="rect">
            <a:avLst/>
          </a:prstGeom>
          <a:noFill/>
          <a:ln/>
        </p:spPr>
        <p:txBody>
          <a:bodyPr wrap="square" lIns="0" tIns="0" rIns="0" bIns="0" rtlCol="0" anchor="t">
            <a:normAutofit/>
          </a:bodyPr>
          <a:lstStyle/>
          <a:p>
            <a:pPr marL="0" indent="0" algn="l">
              <a:lnSpc>
                <a:spcPct val="121000"/>
              </a:lnSpc>
              <a:buNone/>
            </a:pPr>
            <a:r>
              <a:rPr lang="en-US" sz="1050" b="1" dirty="0">
                <a:solidFill>
                  <a:srgbClr val="000000"/>
                </a:solidFill>
                <a:latin typeface="Open Sans Bold" pitchFamily="34" charset="0"/>
                <a:ea typeface="Open Sans Bold" pitchFamily="34" charset="-122"/>
                <a:cs typeface="Open Sans Bold" pitchFamily="34" charset="-120"/>
              </a:rPr>
              <a:t>Growth Pattern Observation:</a:t>
            </a:r>
            <a:r>
              <a:rPr lang="en-US" sz="1050" dirty="0">
                <a:solidFill>
                  <a:srgbClr val="000000"/>
                </a:solidFill>
                <a:latin typeface="Open Sans" pitchFamily="34" charset="0"/>
                <a:ea typeface="Open Sans" pitchFamily="34" charset="-122"/>
                <a:cs typeface="Open Sans" pitchFamily="34" charset="-120"/>
              </a:rPr>
              <a:t> Nestivo expanded quickly in its growth phase, but later entered a slower and more stable stage due to global crisis.</a:t>
            </a:r>
            <a:endParaRPr lang="en-US" sz="1050" dirty="0"/>
          </a:p>
        </p:txBody>
      </p:sp>
      <p:sp>
        <p:nvSpPr>
          <p:cNvPr id="23" name="Rectangle 22">
            <a:extLst>
              <a:ext uri="{FF2B5EF4-FFF2-40B4-BE49-F238E27FC236}">
                <a16:creationId xmlns:a16="http://schemas.microsoft.com/office/drawing/2014/main" id="{BC852AAC-0528-5A35-AC38-E91565EBB605}"/>
              </a:ext>
            </a:extLst>
          </p:cNvPr>
          <p:cNvSpPr/>
          <p:nvPr/>
        </p:nvSpPr>
        <p:spPr>
          <a:xfrm>
            <a:off x="11052202" y="6521573"/>
            <a:ext cx="1106752" cy="31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05123"/>
            <a:ext cx="10868745" cy="452239"/>
          </a:xfrm>
          <a:prstGeom prst="rect">
            <a:avLst/>
          </a:prstGeom>
          <a:noFill/>
          <a:ln/>
        </p:spPr>
        <p:txBody>
          <a:bodyPr wrap="none" lIns="0" tIns="0" rIns="0" bIns="0" rtlCol="0" anchor="t"/>
          <a:lstStyle/>
          <a:p>
            <a:pPr marL="0" indent="0" algn="l">
              <a:lnSpc>
                <a:spcPct val="104000"/>
              </a:lnSpc>
              <a:buNone/>
            </a:pPr>
            <a:r>
              <a:rPr lang="en-US" sz="2800" b="1" dirty="0">
                <a:solidFill>
                  <a:srgbClr val="403C4E"/>
                </a:solidFill>
                <a:latin typeface="Merriweather Bold" pitchFamily="34" charset="0"/>
                <a:ea typeface="Merriweather Bold" pitchFamily="34" charset="-122"/>
                <a:cs typeface="Merriweather Bold" pitchFamily="34" charset="-120"/>
              </a:rPr>
              <a:t>Market Concentration Across Cities</a:t>
            </a:r>
            <a:endParaRPr lang="en-US" sz="2800" dirty="0"/>
          </a:p>
        </p:txBody>
      </p:sp>
      <p:sp>
        <p:nvSpPr>
          <p:cNvPr id="3" name="Text 1"/>
          <p:cNvSpPr/>
          <p:nvPr/>
        </p:nvSpPr>
        <p:spPr>
          <a:xfrm>
            <a:off x="661475" y="1273870"/>
            <a:ext cx="5257867" cy="452041"/>
          </a:xfrm>
          <a:prstGeom prst="rect">
            <a:avLst/>
          </a:prstGeom>
          <a:noFill/>
          <a:ln/>
        </p:spPr>
        <p:txBody>
          <a:bodyPr wrap="square" lIns="0" tIns="0" rIns="0" bIns="0" rtlCol="0" anchor="t">
            <a:normAutofit/>
          </a:bodyPr>
          <a:lstStyle/>
          <a:p>
            <a:pPr marL="0" indent="0" algn="l">
              <a:lnSpc>
                <a:spcPct val="104000"/>
              </a:lnSpc>
              <a:buNone/>
            </a:pPr>
            <a:r>
              <a:rPr lang="en-US" sz="1400" b="1" dirty="0">
                <a:solidFill>
                  <a:srgbClr val="403C4E"/>
                </a:solidFill>
                <a:latin typeface="Merriweather Bold" pitchFamily="34" charset="0"/>
                <a:ea typeface="Merriweather Bold" pitchFamily="34" charset="-122"/>
                <a:cs typeface="Merriweather Bold" pitchFamily="34" charset="-120"/>
              </a:rPr>
              <a:t>Q1: Which cities contribute most to Nestivo's overall business?</a:t>
            </a:r>
            <a:endParaRPr lang="en-US" sz="1400" dirty="0"/>
          </a:p>
        </p:txBody>
      </p:sp>
      <p:sp>
        <p:nvSpPr>
          <p:cNvPr id="4" name="Text 2"/>
          <p:cNvSpPr/>
          <p:nvPr/>
        </p:nvSpPr>
        <p:spPr>
          <a:xfrm>
            <a:off x="661475" y="1852513"/>
            <a:ext cx="5257867" cy="651272"/>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403C4E"/>
                </a:solidFill>
                <a:latin typeface="Open Sans" pitchFamily="34" charset="0"/>
                <a:ea typeface="Open Sans" pitchFamily="34" charset="-122"/>
                <a:cs typeface="Open Sans" pitchFamily="34" charset="-120"/>
              </a:rPr>
              <a:t>The market share chart shows that </a:t>
            </a:r>
            <a:r>
              <a:rPr lang="en-US" sz="1100" b="1" dirty="0">
                <a:solidFill>
                  <a:srgbClr val="403C4E"/>
                </a:solidFill>
                <a:latin typeface="Open Sans Bold" pitchFamily="34" charset="0"/>
                <a:ea typeface="Open Sans Bold" pitchFamily="34" charset="-122"/>
                <a:cs typeface="Open Sans Bold" pitchFamily="34" charset="-120"/>
              </a:rPr>
              <a:t>Paris, New York, and Sydney</a:t>
            </a:r>
            <a:r>
              <a:rPr lang="en-US" sz="1100" dirty="0">
                <a:solidFill>
                  <a:srgbClr val="403C4E"/>
                </a:solidFill>
                <a:latin typeface="Open Sans" pitchFamily="34" charset="0"/>
                <a:ea typeface="Open Sans" pitchFamily="34" charset="-122"/>
                <a:cs typeface="Open Sans" pitchFamily="34" charset="-120"/>
              </a:rPr>
              <a:t> contribute the most to Nestivo's supply. Paris is the biggest contributor, making it a core city for the business.</a:t>
            </a:r>
            <a:endParaRPr lang="en-US" sz="1100" dirty="0"/>
          </a:p>
        </p:txBody>
      </p:sp>
      <p:sp>
        <p:nvSpPr>
          <p:cNvPr id="5" name="Text 3"/>
          <p:cNvSpPr/>
          <p:nvPr/>
        </p:nvSpPr>
        <p:spPr>
          <a:xfrm>
            <a:off x="661475" y="2630388"/>
            <a:ext cx="5257867" cy="226020"/>
          </a:xfrm>
          <a:prstGeom prst="rect">
            <a:avLst/>
          </a:prstGeom>
          <a:noFill/>
          <a:ln/>
        </p:spPr>
        <p:txBody>
          <a:bodyPr wrap="none" lIns="0" tIns="0" rIns="0" bIns="0" rtlCol="0" anchor="t"/>
          <a:lstStyle/>
          <a:p>
            <a:pPr marL="0" indent="0" algn="l">
              <a:lnSpc>
                <a:spcPct val="104000"/>
              </a:lnSpc>
              <a:buNone/>
            </a:pPr>
            <a:r>
              <a:rPr lang="en-US" sz="1400" b="1" dirty="0">
                <a:solidFill>
                  <a:srgbClr val="403C4E"/>
                </a:solidFill>
                <a:latin typeface="Merriweather Bold" pitchFamily="34" charset="0"/>
                <a:ea typeface="Merriweather Bold" pitchFamily="34" charset="-122"/>
                <a:cs typeface="Merriweather Bold" pitchFamily="34" charset="-120"/>
              </a:rPr>
              <a:t>Q2: Are a few cities driving most of the supply?</a:t>
            </a:r>
            <a:endParaRPr lang="en-US" sz="1400" dirty="0"/>
          </a:p>
        </p:txBody>
      </p:sp>
      <p:sp>
        <p:nvSpPr>
          <p:cNvPr id="6" name="Text 4"/>
          <p:cNvSpPr/>
          <p:nvPr/>
        </p:nvSpPr>
        <p:spPr>
          <a:xfrm>
            <a:off x="661475" y="2983012"/>
            <a:ext cx="5257867" cy="651272"/>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403C4E"/>
                </a:solidFill>
                <a:latin typeface="Open Sans" pitchFamily="34" charset="0"/>
                <a:ea typeface="Open Sans" pitchFamily="34" charset="-122"/>
                <a:cs typeface="Open Sans" pitchFamily="34" charset="-120"/>
              </a:rPr>
              <a:t>Yes. The cumulative share line shows that the top three cities already account for </a:t>
            </a:r>
            <a:r>
              <a:rPr lang="en-US" sz="1100" b="1" dirty="0">
                <a:solidFill>
                  <a:srgbClr val="403C4E"/>
                </a:solidFill>
                <a:latin typeface="Open Sans Bold" pitchFamily="34" charset="0"/>
                <a:ea typeface="Open Sans Bold" pitchFamily="34" charset="-122"/>
                <a:cs typeface="Open Sans Bold" pitchFamily="34" charset="-120"/>
              </a:rPr>
              <a:t>48.4%</a:t>
            </a:r>
            <a:r>
              <a:rPr lang="en-US" sz="1100" dirty="0">
                <a:solidFill>
                  <a:srgbClr val="403C4E"/>
                </a:solidFill>
                <a:latin typeface="Open Sans" pitchFamily="34" charset="0"/>
                <a:ea typeface="Open Sans" pitchFamily="34" charset="-122"/>
                <a:cs typeface="Open Sans" pitchFamily="34" charset="-120"/>
              </a:rPr>
              <a:t> of listings, and the top five reach </a:t>
            </a:r>
            <a:r>
              <a:rPr lang="en-US" sz="1100" b="1" dirty="0">
                <a:solidFill>
                  <a:srgbClr val="403C4E"/>
                </a:solidFill>
                <a:latin typeface="Open Sans Bold" pitchFamily="34" charset="0"/>
                <a:ea typeface="Open Sans Bold" pitchFamily="34" charset="-122"/>
                <a:cs typeface="Open Sans Bold" pitchFamily="34" charset="-120"/>
              </a:rPr>
              <a:t>67.8%</a:t>
            </a:r>
            <a:r>
              <a:rPr lang="en-US" sz="1100" dirty="0">
                <a:solidFill>
                  <a:srgbClr val="403C4E"/>
                </a:solidFill>
                <a:latin typeface="Open Sans" pitchFamily="34" charset="0"/>
                <a:ea typeface="Open Sans" pitchFamily="34" charset="-122"/>
                <a:cs typeface="Open Sans" pitchFamily="34" charset="-120"/>
              </a:rPr>
              <a:t>. This means supply is concentrated in a small number of cities rather than being evenly spread.</a:t>
            </a:r>
            <a:endParaRPr lang="en-US" sz="1100" dirty="0"/>
          </a:p>
        </p:txBody>
      </p:sp>
      <p:sp>
        <p:nvSpPr>
          <p:cNvPr id="7" name="Text 5"/>
          <p:cNvSpPr/>
          <p:nvPr/>
        </p:nvSpPr>
        <p:spPr>
          <a:xfrm>
            <a:off x="661475" y="3760887"/>
            <a:ext cx="5257867" cy="226020"/>
          </a:xfrm>
          <a:prstGeom prst="rect">
            <a:avLst/>
          </a:prstGeom>
          <a:noFill/>
          <a:ln/>
        </p:spPr>
        <p:txBody>
          <a:bodyPr wrap="none" lIns="0" tIns="0" rIns="0" bIns="0" rtlCol="0" anchor="t"/>
          <a:lstStyle/>
          <a:p>
            <a:pPr marL="0" indent="0" algn="l">
              <a:lnSpc>
                <a:spcPct val="104000"/>
              </a:lnSpc>
              <a:buNone/>
            </a:pPr>
            <a:r>
              <a:rPr lang="en-US" sz="1400" b="1" dirty="0">
                <a:solidFill>
                  <a:srgbClr val="403C4E"/>
                </a:solidFill>
                <a:latin typeface="Merriweather Bold" pitchFamily="34" charset="0"/>
                <a:ea typeface="Merriweather Bold" pitchFamily="34" charset="-122"/>
                <a:cs typeface="Merriweather Bold" pitchFamily="34" charset="-120"/>
              </a:rPr>
              <a:t>Q3: How much of the total market do top cities control?</a:t>
            </a:r>
            <a:endParaRPr lang="en-US" sz="1400" dirty="0"/>
          </a:p>
        </p:txBody>
      </p:sp>
      <p:sp>
        <p:nvSpPr>
          <p:cNvPr id="8" name="Text 6"/>
          <p:cNvSpPr/>
          <p:nvPr/>
        </p:nvSpPr>
        <p:spPr>
          <a:xfrm>
            <a:off x="661475" y="4113510"/>
            <a:ext cx="5257867" cy="868362"/>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403C4E"/>
                </a:solidFill>
                <a:latin typeface="Open Sans" pitchFamily="34" charset="0"/>
                <a:ea typeface="Open Sans" pitchFamily="34" charset="-122"/>
                <a:cs typeface="Open Sans" pitchFamily="34" charset="-120"/>
              </a:rPr>
              <a:t>The chart shows that the tracked market reaches </a:t>
            </a:r>
            <a:r>
              <a:rPr lang="en-US" sz="1100" b="1" dirty="0">
                <a:solidFill>
                  <a:srgbClr val="403C4E"/>
                </a:solidFill>
                <a:latin typeface="Open Sans Bold" pitchFamily="34" charset="0"/>
                <a:ea typeface="Open Sans Bold" pitchFamily="34" charset="-122"/>
                <a:cs typeface="Open Sans Bold" pitchFamily="34" charset="-120"/>
              </a:rPr>
              <a:t>100%</a:t>
            </a:r>
            <a:r>
              <a:rPr lang="en-US" sz="1100" dirty="0">
                <a:solidFill>
                  <a:srgbClr val="403C4E"/>
                </a:solidFill>
                <a:latin typeface="Open Sans" pitchFamily="34" charset="0"/>
                <a:ea typeface="Open Sans" pitchFamily="34" charset="-122"/>
                <a:cs typeface="Open Sans" pitchFamily="34" charset="-120"/>
              </a:rPr>
              <a:t> across the ten cities shown, but the first few cities control a very large portion of that total. This means performance in a few cities has a major impact on the overall business.</a:t>
            </a:r>
            <a:endParaRPr lang="en-US" sz="1100" dirty="0"/>
          </a:p>
        </p:txBody>
      </p:sp>
      <p:sp>
        <p:nvSpPr>
          <p:cNvPr id="9" name="Text 7"/>
          <p:cNvSpPr/>
          <p:nvPr/>
        </p:nvSpPr>
        <p:spPr>
          <a:xfrm>
            <a:off x="6663563" y="2230140"/>
            <a:ext cx="1779940" cy="361851"/>
          </a:xfrm>
          <a:prstGeom prst="rect">
            <a:avLst/>
          </a:prstGeom>
          <a:noFill/>
          <a:ln/>
        </p:spPr>
        <p:txBody>
          <a:bodyPr wrap="none" lIns="0" tIns="0" rIns="0" bIns="0" rtlCol="0" anchor="t"/>
          <a:lstStyle/>
          <a:p>
            <a:pPr marL="0" indent="0" algn="ctr">
              <a:lnSpc>
                <a:spcPct val="83000"/>
              </a:lnSpc>
              <a:buNone/>
            </a:pPr>
            <a:r>
              <a:rPr lang="en-US" sz="2800" b="1" dirty="0">
                <a:solidFill>
                  <a:srgbClr val="403C4E"/>
                </a:solidFill>
                <a:latin typeface="Merriweather Bold" pitchFamily="34" charset="0"/>
                <a:ea typeface="Merriweather Bold" pitchFamily="34" charset="-122"/>
                <a:cs typeface="Merriweather Bold" pitchFamily="34" charset="-120"/>
              </a:rPr>
              <a:t>48.4%</a:t>
            </a:r>
            <a:endParaRPr lang="en-US" sz="2800" dirty="0"/>
          </a:p>
        </p:txBody>
      </p:sp>
      <p:pic>
        <p:nvPicPr>
          <p:cNvPr id="10" name="Image 0" descr="preencoded.png"/>
          <p:cNvPicPr>
            <a:picLocks noChangeAspect="1"/>
          </p:cNvPicPr>
          <p:nvPr/>
        </p:nvPicPr>
        <p:blipFill>
          <a:blip r:embed="rId3"/>
          <a:stretch>
            <a:fillRect/>
          </a:stretch>
        </p:blipFill>
        <p:spPr>
          <a:xfrm>
            <a:off x="6468206" y="1325761"/>
            <a:ext cx="2170753" cy="2170807"/>
          </a:xfrm>
          <a:prstGeom prst="rect">
            <a:avLst/>
          </a:prstGeom>
        </p:spPr>
      </p:pic>
      <p:sp>
        <p:nvSpPr>
          <p:cNvPr id="11" name="Text 8"/>
          <p:cNvSpPr/>
          <p:nvPr/>
        </p:nvSpPr>
        <p:spPr>
          <a:xfrm>
            <a:off x="6278703" y="3659287"/>
            <a:ext cx="2549759" cy="226020"/>
          </a:xfrm>
          <a:prstGeom prst="rect">
            <a:avLst/>
          </a:prstGeom>
          <a:noFill/>
          <a:ln/>
        </p:spPr>
        <p:txBody>
          <a:bodyPr wrap="none" lIns="0" tIns="0" rIns="0" bIns="0" rtlCol="0" anchor="t"/>
          <a:lstStyle/>
          <a:p>
            <a:pPr marL="0" indent="0" algn="ctr">
              <a:lnSpc>
                <a:spcPct val="104000"/>
              </a:lnSpc>
              <a:buNone/>
            </a:pPr>
            <a:r>
              <a:rPr lang="en-US" sz="1400" b="1" dirty="0">
                <a:solidFill>
                  <a:srgbClr val="403C4E"/>
                </a:solidFill>
                <a:latin typeface="Merriweather Bold" pitchFamily="34" charset="0"/>
                <a:ea typeface="Merriweather Bold" pitchFamily="34" charset="-122"/>
                <a:cs typeface="Merriweather Bold" pitchFamily="34" charset="-120"/>
              </a:rPr>
              <a:t>Top 3 Cities</a:t>
            </a:r>
            <a:endParaRPr lang="en-US" sz="1400" dirty="0"/>
          </a:p>
        </p:txBody>
      </p:sp>
      <p:sp>
        <p:nvSpPr>
          <p:cNvPr id="12" name="Text 9"/>
          <p:cNvSpPr/>
          <p:nvPr/>
        </p:nvSpPr>
        <p:spPr>
          <a:xfrm>
            <a:off x="6278703" y="4011910"/>
            <a:ext cx="2549759" cy="217091"/>
          </a:xfrm>
          <a:prstGeom prst="rect">
            <a:avLst/>
          </a:prstGeom>
          <a:noFill/>
          <a:ln/>
        </p:spPr>
        <p:txBody>
          <a:bodyPr wrap="none" lIns="0" tIns="0" rIns="0" bIns="0" rtlCol="0" anchor="t"/>
          <a:lstStyle/>
          <a:p>
            <a:pPr marL="0" indent="0" algn="ctr">
              <a:lnSpc>
                <a:spcPct val="125000"/>
              </a:lnSpc>
              <a:buNone/>
            </a:pPr>
            <a:r>
              <a:rPr lang="en-US" sz="1100" dirty="0">
                <a:solidFill>
                  <a:srgbClr val="403C4E"/>
                </a:solidFill>
                <a:latin typeface="Open Sans" pitchFamily="34" charset="0"/>
                <a:ea typeface="Open Sans" pitchFamily="34" charset="-122"/>
                <a:cs typeface="Open Sans" pitchFamily="34" charset="-120"/>
              </a:rPr>
              <a:t>Paris, New York, Sydney</a:t>
            </a:r>
            <a:endParaRPr lang="en-US" sz="1100" dirty="0"/>
          </a:p>
        </p:txBody>
      </p:sp>
      <p:sp>
        <p:nvSpPr>
          <p:cNvPr id="13" name="Text 10"/>
          <p:cNvSpPr/>
          <p:nvPr/>
        </p:nvSpPr>
        <p:spPr>
          <a:xfrm>
            <a:off x="9371572" y="2230140"/>
            <a:ext cx="1779940" cy="361851"/>
          </a:xfrm>
          <a:prstGeom prst="rect">
            <a:avLst/>
          </a:prstGeom>
          <a:noFill/>
          <a:ln/>
        </p:spPr>
        <p:txBody>
          <a:bodyPr wrap="none" lIns="0" tIns="0" rIns="0" bIns="0" rtlCol="0" anchor="t"/>
          <a:lstStyle/>
          <a:p>
            <a:pPr marL="0" indent="0" algn="ctr">
              <a:lnSpc>
                <a:spcPct val="83000"/>
              </a:lnSpc>
              <a:buNone/>
            </a:pPr>
            <a:r>
              <a:rPr lang="en-US" sz="2800" b="1" dirty="0">
                <a:solidFill>
                  <a:srgbClr val="403C4E"/>
                </a:solidFill>
                <a:latin typeface="Merriweather Bold" pitchFamily="34" charset="0"/>
                <a:ea typeface="Merriweather Bold" pitchFamily="34" charset="-122"/>
                <a:cs typeface="Merriweather Bold" pitchFamily="34" charset="-120"/>
              </a:rPr>
              <a:t>67.8%</a:t>
            </a:r>
            <a:endParaRPr lang="en-US" sz="2800" dirty="0"/>
          </a:p>
        </p:txBody>
      </p:sp>
      <p:pic>
        <p:nvPicPr>
          <p:cNvPr id="14" name="Image 1" descr="preencoded.png"/>
          <p:cNvPicPr>
            <a:picLocks noChangeAspect="1"/>
          </p:cNvPicPr>
          <p:nvPr/>
        </p:nvPicPr>
        <p:blipFill>
          <a:blip r:embed="rId4"/>
          <a:stretch>
            <a:fillRect/>
          </a:stretch>
        </p:blipFill>
        <p:spPr>
          <a:xfrm>
            <a:off x="9176215" y="1325761"/>
            <a:ext cx="2170753" cy="2170807"/>
          </a:xfrm>
          <a:prstGeom prst="rect">
            <a:avLst/>
          </a:prstGeom>
        </p:spPr>
      </p:pic>
      <p:sp>
        <p:nvSpPr>
          <p:cNvPr id="15" name="Text 11"/>
          <p:cNvSpPr/>
          <p:nvPr/>
        </p:nvSpPr>
        <p:spPr>
          <a:xfrm>
            <a:off x="8986712" y="3659287"/>
            <a:ext cx="2549858" cy="226020"/>
          </a:xfrm>
          <a:prstGeom prst="rect">
            <a:avLst/>
          </a:prstGeom>
          <a:noFill/>
          <a:ln/>
        </p:spPr>
        <p:txBody>
          <a:bodyPr wrap="none" lIns="0" tIns="0" rIns="0" bIns="0" rtlCol="0" anchor="t"/>
          <a:lstStyle/>
          <a:p>
            <a:pPr marL="0" indent="0" algn="ctr">
              <a:lnSpc>
                <a:spcPct val="104000"/>
              </a:lnSpc>
              <a:buNone/>
            </a:pPr>
            <a:r>
              <a:rPr lang="en-US" sz="1400" b="1" dirty="0">
                <a:solidFill>
                  <a:srgbClr val="403C4E"/>
                </a:solidFill>
                <a:latin typeface="Merriweather Bold" pitchFamily="34" charset="0"/>
                <a:ea typeface="Merriweather Bold" pitchFamily="34" charset="-122"/>
                <a:cs typeface="Merriweather Bold" pitchFamily="34" charset="-120"/>
              </a:rPr>
              <a:t>Top 5 Cities</a:t>
            </a:r>
            <a:endParaRPr lang="en-US" sz="1400" dirty="0"/>
          </a:p>
        </p:txBody>
      </p:sp>
      <p:sp>
        <p:nvSpPr>
          <p:cNvPr id="16" name="Text 12"/>
          <p:cNvSpPr/>
          <p:nvPr/>
        </p:nvSpPr>
        <p:spPr>
          <a:xfrm>
            <a:off x="8986712" y="4011910"/>
            <a:ext cx="2549858" cy="217091"/>
          </a:xfrm>
          <a:prstGeom prst="rect">
            <a:avLst/>
          </a:prstGeom>
          <a:noFill/>
          <a:ln/>
        </p:spPr>
        <p:txBody>
          <a:bodyPr wrap="none" lIns="0" tIns="0" rIns="0" bIns="0" rtlCol="0" anchor="t"/>
          <a:lstStyle/>
          <a:p>
            <a:pPr marL="0" indent="0" algn="ctr">
              <a:lnSpc>
                <a:spcPct val="125000"/>
              </a:lnSpc>
              <a:buNone/>
            </a:pPr>
            <a:r>
              <a:rPr lang="en-US" sz="1100" dirty="0">
                <a:solidFill>
                  <a:srgbClr val="403C4E"/>
                </a:solidFill>
                <a:latin typeface="Open Sans" pitchFamily="34" charset="0"/>
                <a:ea typeface="Open Sans" pitchFamily="34" charset="-122"/>
                <a:cs typeface="Open Sans" pitchFamily="34" charset="-120"/>
              </a:rPr>
              <a:t>Cumulative share</a:t>
            </a:r>
            <a:endParaRPr lang="en-US" sz="1100" dirty="0"/>
          </a:p>
        </p:txBody>
      </p:sp>
      <p:pic>
        <p:nvPicPr>
          <p:cNvPr id="17" name="Image 2" descr="preencoded.png"/>
          <p:cNvPicPr>
            <a:picLocks noChangeAspect="1"/>
          </p:cNvPicPr>
          <p:nvPr/>
        </p:nvPicPr>
        <p:blipFill>
          <a:blip r:embed="rId5"/>
          <a:stretch>
            <a:fillRect/>
          </a:stretch>
        </p:blipFill>
        <p:spPr>
          <a:xfrm>
            <a:off x="6278703" y="4371380"/>
            <a:ext cx="4575755" cy="1839020"/>
          </a:xfrm>
          <a:prstGeom prst="rect">
            <a:avLst/>
          </a:prstGeom>
        </p:spPr>
      </p:pic>
      <p:sp>
        <p:nvSpPr>
          <p:cNvPr id="18" name="Rectangle 17">
            <a:extLst>
              <a:ext uri="{FF2B5EF4-FFF2-40B4-BE49-F238E27FC236}">
                <a16:creationId xmlns:a16="http://schemas.microsoft.com/office/drawing/2014/main" id="{63788D08-2FC2-CDDA-EDBF-6B9EBE2EDB9A}"/>
              </a:ext>
            </a:extLst>
          </p:cNvPr>
          <p:cNvSpPr/>
          <p:nvPr/>
        </p:nvSpPr>
        <p:spPr>
          <a:xfrm>
            <a:off x="11052202" y="6521573"/>
            <a:ext cx="1106752" cy="31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476548"/>
            <a:ext cx="10868745" cy="395684"/>
          </a:xfrm>
          <a:prstGeom prst="rect">
            <a:avLst/>
          </a:prstGeom>
          <a:noFill/>
          <a:ln/>
        </p:spPr>
        <p:txBody>
          <a:bodyPr wrap="none" lIns="0" tIns="0" rIns="0" bIns="0" rtlCol="0" anchor="t"/>
          <a:lstStyle/>
          <a:p>
            <a:pPr marL="0" indent="0" algn="l">
              <a:lnSpc>
                <a:spcPct val="104000"/>
              </a:lnSpc>
              <a:buNone/>
            </a:pPr>
            <a:r>
              <a:rPr lang="en-US" sz="2450" b="1" dirty="0">
                <a:solidFill>
                  <a:srgbClr val="403C4E"/>
                </a:solidFill>
                <a:latin typeface="Merriweather Bold" pitchFamily="34" charset="0"/>
                <a:ea typeface="Merriweather Bold" pitchFamily="34" charset="-122"/>
                <a:cs typeface="Merriweather Bold" pitchFamily="34" charset="-120"/>
              </a:rPr>
              <a:t>Pricing Insights</a:t>
            </a:r>
            <a:endParaRPr lang="en-US" sz="2450" dirty="0"/>
          </a:p>
        </p:txBody>
      </p:sp>
      <p:pic>
        <p:nvPicPr>
          <p:cNvPr id="3" name="Image 0" descr="preencoded.png"/>
          <p:cNvPicPr>
            <a:picLocks noChangeAspect="1"/>
          </p:cNvPicPr>
          <p:nvPr/>
        </p:nvPicPr>
        <p:blipFill>
          <a:blip r:embed="rId3"/>
          <a:stretch>
            <a:fillRect/>
          </a:stretch>
        </p:blipFill>
        <p:spPr>
          <a:xfrm>
            <a:off x="1935213" y="1066105"/>
            <a:ext cx="8321169" cy="2028627"/>
          </a:xfrm>
          <a:prstGeom prst="rect">
            <a:avLst/>
          </a:prstGeom>
        </p:spPr>
      </p:pic>
      <p:sp>
        <p:nvSpPr>
          <p:cNvPr id="4" name="Text 1"/>
          <p:cNvSpPr/>
          <p:nvPr/>
        </p:nvSpPr>
        <p:spPr>
          <a:xfrm>
            <a:off x="661475" y="3300710"/>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403C4E"/>
                </a:solidFill>
                <a:latin typeface="Merriweather Bold" pitchFamily="34" charset="0"/>
                <a:ea typeface="Merriweather Bold" pitchFamily="34" charset="-122"/>
                <a:cs typeface="Merriweather Bold" pitchFamily="34" charset="-120"/>
              </a:rPr>
              <a:t>Q1: Are hotel rooms more expensive than Nestivo stays?</a:t>
            </a:r>
            <a:endParaRPr lang="en-US" sz="1200" dirty="0"/>
          </a:p>
        </p:txBody>
      </p:sp>
      <p:sp>
        <p:nvSpPr>
          <p:cNvPr id="5" name="Text 2"/>
          <p:cNvSpPr/>
          <p:nvPr/>
        </p:nvSpPr>
        <p:spPr>
          <a:xfrm>
            <a:off x="661475" y="3595390"/>
            <a:ext cx="5279893"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403C4E"/>
                </a:solidFill>
                <a:latin typeface="Open Sans" pitchFamily="34" charset="0"/>
                <a:ea typeface="Open Sans" pitchFamily="34" charset="-122"/>
                <a:cs typeface="Open Sans" pitchFamily="34" charset="-120"/>
              </a:rPr>
              <a:t>Yes. The average price chart shows a clear hierarchy across stay types. Hotel rooms command the highest price, while private rooms offer the most affordable option.</a:t>
            </a:r>
            <a:endParaRPr lang="en-US" sz="950" dirty="0"/>
          </a:p>
        </p:txBody>
      </p:sp>
      <p:sp>
        <p:nvSpPr>
          <p:cNvPr id="6" name="Text 3"/>
          <p:cNvSpPr/>
          <p:nvPr/>
        </p:nvSpPr>
        <p:spPr>
          <a:xfrm>
            <a:off x="661475" y="4125317"/>
            <a:ext cx="2579325" cy="335558"/>
          </a:xfrm>
          <a:prstGeom prst="rect">
            <a:avLst/>
          </a:prstGeom>
          <a:noFill/>
          <a:ln/>
        </p:spPr>
        <p:txBody>
          <a:bodyPr wrap="none" lIns="0" tIns="0" rIns="0" bIns="0" rtlCol="0" anchor="t"/>
          <a:lstStyle/>
          <a:p>
            <a:pPr marL="0" indent="0" algn="ctr">
              <a:lnSpc>
                <a:spcPct val="83000"/>
              </a:lnSpc>
              <a:buNone/>
            </a:pPr>
            <a:r>
              <a:rPr lang="en-US" sz="2600" b="1" dirty="0">
                <a:solidFill>
                  <a:srgbClr val="403C4E"/>
                </a:solidFill>
                <a:latin typeface="Merriweather Bold" pitchFamily="34" charset="0"/>
                <a:ea typeface="Merriweather Bold" pitchFamily="34" charset="-122"/>
                <a:cs typeface="Merriweather Bold" pitchFamily="34" charset="-120"/>
              </a:rPr>
              <a:t>$800</a:t>
            </a:r>
            <a:endParaRPr lang="en-US" sz="2600" dirty="0"/>
          </a:p>
        </p:txBody>
      </p:sp>
      <p:sp>
        <p:nvSpPr>
          <p:cNvPr id="7" name="Text 4"/>
          <p:cNvSpPr/>
          <p:nvPr/>
        </p:nvSpPr>
        <p:spPr>
          <a:xfrm>
            <a:off x="661475" y="4596805"/>
            <a:ext cx="2579325" cy="197743"/>
          </a:xfrm>
          <a:prstGeom prst="rect">
            <a:avLst/>
          </a:prstGeom>
          <a:noFill/>
          <a:ln/>
        </p:spPr>
        <p:txBody>
          <a:bodyPr wrap="none" lIns="0" tIns="0" rIns="0" bIns="0" rtlCol="0" anchor="t"/>
          <a:lstStyle/>
          <a:p>
            <a:pPr marL="0" indent="0" algn="ctr">
              <a:lnSpc>
                <a:spcPct val="104000"/>
              </a:lnSpc>
              <a:buNone/>
            </a:pPr>
            <a:r>
              <a:rPr lang="en-US" sz="1200" b="1" dirty="0">
                <a:solidFill>
                  <a:srgbClr val="403C4E"/>
                </a:solidFill>
                <a:latin typeface="Merriweather Bold" pitchFamily="34" charset="0"/>
                <a:ea typeface="Merriweather Bold" pitchFamily="34" charset="-122"/>
                <a:cs typeface="Merriweather Bold" pitchFamily="34" charset="-120"/>
              </a:rPr>
              <a:t>Hotel Room</a:t>
            </a:r>
            <a:endParaRPr lang="en-US" sz="1200" dirty="0"/>
          </a:p>
        </p:txBody>
      </p:sp>
      <p:sp>
        <p:nvSpPr>
          <p:cNvPr id="8" name="Text 5"/>
          <p:cNvSpPr/>
          <p:nvPr/>
        </p:nvSpPr>
        <p:spPr>
          <a:xfrm>
            <a:off x="661475" y="4891484"/>
            <a:ext cx="2579325" cy="178792"/>
          </a:xfrm>
          <a:prstGeom prst="rect">
            <a:avLst/>
          </a:prstGeom>
          <a:noFill/>
          <a:ln/>
        </p:spPr>
        <p:txBody>
          <a:bodyPr wrap="none" lIns="0" tIns="0" rIns="0" bIns="0" rtlCol="0" anchor="t"/>
          <a:lstStyle/>
          <a:p>
            <a:pPr marL="0" indent="0" algn="ctr">
              <a:lnSpc>
                <a:spcPct val="118000"/>
              </a:lnSpc>
              <a:buNone/>
            </a:pPr>
            <a:r>
              <a:rPr lang="en-US" sz="950" dirty="0">
                <a:solidFill>
                  <a:srgbClr val="403C4E"/>
                </a:solidFill>
                <a:latin typeface="Open Sans" pitchFamily="34" charset="0"/>
                <a:ea typeface="Open Sans" pitchFamily="34" charset="-122"/>
                <a:cs typeface="Open Sans" pitchFamily="34" charset="-120"/>
              </a:rPr>
              <a:t>Most expensive option</a:t>
            </a:r>
            <a:endParaRPr lang="en-US" sz="950" dirty="0"/>
          </a:p>
        </p:txBody>
      </p:sp>
      <p:sp>
        <p:nvSpPr>
          <p:cNvPr id="9" name="Text 6"/>
          <p:cNvSpPr/>
          <p:nvPr/>
        </p:nvSpPr>
        <p:spPr>
          <a:xfrm>
            <a:off x="3361943" y="4125317"/>
            <a:ext cx="2579425" cy="335558"/>
          </a:xfrm>
          <a:prstGeom prst="rect">
            <a:avLst/>
          </a:prstGeom>
          <a:noFill/>
          <a:ln/>
        </p:spPr>
        <p:txBody>
          <a:bodyPr wrap="none" lIns="0" tIns="0" rIns="0" bIns="0" rtlCol="0" anchor="t"/>
          <a:lstStyle/>
          <a:p>
            <a:pPr marL="0" indent="0" algn="ctr">
              <a:lnSpc>
                <a:spcPct val="83000"/>
              </a:lnSpc>
              <a:buNone/>
            </a:pPr>
            <a:r>
              <a:rPr lang="en-US" sz="2600" b="1" dirty="0">
                <a:solidFill>
                  <a:srgbClr val="403C4E"/>
                </a:solidFill>
                <a:latin typeface="Merriweather Bold" pitchFamily="34" charset="0"/>
                <a:ea typeface="Merriweather Bold" pitchFamily="34" charset="-122"/>
                <a:cs typeface="Merriweather Bold" pitchFamily="34" charset="-120"/>
              </a:rPr>
              <a:t>$673</a:t>
            </a:r>
            <a:endParaRPr lang="en-US" sz="2600" dirty="0"/>
          </a:p>
        </p:txBody>
      </p:sp>
      <p:sp>
        <p:nvSpPr>
          <p:cNvPr id="10" name="Text 7"/>
          <p:cNvSpPr/>
          <p:nvPr/>
        </p:nvSpPr>
        <p:spPr>
          <a:xfrm>
            <a:off x="3361943" y="4596805"/>
            <a:ext cx="2579425" cy="197743"/>
          </a:xfrm>
          <a:prstGeom prst="rect">
            <a:avLst/>
          </a:prstGeom>
          <a:noFill/>
          <a:ln/>
        </p:spPr>
        <p:txBody>
          <a:bodyPr wrap="none" lIns="0" tIns="0" rIns="0" bIns="0" rtlCol="0" anchor="t"/>
          <a:lstStyle/>
          <a:p>
            <a:pPr marL="0" indent="0" algn="ctr">
              <a:lnSpc>
                <a:spcPct val="104000"/>
              </a:lnSpc>
              <a:buNone/>
            </a:pPr>
            <a:r>
              <a:rPr lang="en-US" sz="1200" b="1" dirty="0">
                <a:solidFill>
                  <a:srgbClr val="403C4E"/>
                </a:solidFill>
                <a:latin typeface="Merriweather Bold" pitchFamily="34" charset="0"/>
                <a:ea typeface="Merriweather Bold" pitchFamily="34" charset="-122"/>
                <a:cs typeface="Merriweather Bold" pitchFamily="34" charset="-120"/>
              </a:rPr>
              <a:t>Entire Place</a:t>
            </a:r>
            <a:endParaRPr lang="en-US" sz="1200" dirty="0"/>
          </a:p>
        </p:txBody>
      </p:sp>
      <p:sp>
        <p:nvSpPr>
          <p:cNvPr id="11" name="Text 8"/>
          <p:cNvSpPr/>
          <p:nvPr/>
        </p:nvSpPr>
        <p:spPr>
          <a:xfrm>
            <a:off x="661475" y="5327452"/>
            <a:ext cx="2579325" cy="335558"/>
          </a:xfrm>
          <a:prstGeom prst="rect">
            <a:avLst/>
          </a:prstGeom>
          <a:noFill/>
          <a:ln/>
        </p:spPr>
        <p:txBody>
          <a:bodyPr wrap="none" lIns="0" tIns="0" rIns="0" bIns="0" rtlCol="0" anchor="t"/>
          <a:lstStyle/>
          <a:p>
            <a:pPr marL="0" indent="0" algn="ctr">
              <a:lnSpc>
                <a:spcPct val="83000"/>
              </a:lnSpc>
              <a:buNone/>
            </a:pPr>
            <a:r>
              <a:rPr lang="en-US" sz="2600" b="1" dirty="0">
                <a:solidFill>
                  <a:srgbClr val="403C4E"/>
                </a:solidFill>
                <a:latin typeface="Merriweather Bold" pitchFamily="34" charset="0"/>
                <a:ea typeface="Merriweather Bold" pitchFamily="34" charset="-122"/>
                <a:cs typeface="Merriweather Bold" pitchFamily="34" charset="-120"/>
              </a:rPr>
              <a:t>$580</a:t>
            </a:r>
            <a:endParaRPr lang="en-US" sz="2600" dirty="0"/>
          </a:p>
        </p:txBody>
      </p:sp>
      <p:sp>
        <p:nvSpPr>
          <p:cNvPr id="12" name="Text 9"/>
          <p:cNvSpPr/>
          <p:nvPr/>
        </p:nvSpPr>
        <p:spPr>
          <a:xfrm>
            <a:off x="661475" y="5798939"/>
            <a:ext cx="2579325" cy="197743"/>
          </a:xfrm>
          <a:prstGeom prst="rect">
            <a:avLst/>
          </a:prstGeom>
          <a:noFill/>
          <a:ln/>
        </p:spPr>
        <p:txBody>
          <a:bodyPr wrap="none" lIns="0" tIns="0" rIns="0" bIns="0" rtlCol="0" anchor="t"/>
          <a:lstStyle/>
          <a:p>
            <a:pPr marL="0" indent="0" algn="ctr">
              <a:lnSpc>
                <a:spcPct val="104000"/>
              </a:lnSpc>
              <a:buNone/>
            </a:pPr>
            <a:r>
              <a:rPr lang="en-US" sz="1200" b="1" dirty="0">
                <a:solidFill>
                  <a:srgbClr val="403C4E"/>
                </a:solidFill>
                <a:latin typeface="Merriweather Bold" pitchFamily="34" charset="0"/>
                <a:ea typeface="Merriweather Bold" pitchFamily="34" charset="-122"/>
                <a:cs typeface="Merriweather Bold" pitchFamily="34" charset="-120"/>
              </a:rPr>
              <a:t>Shared Room</a:t>
            </a:r>
            <a:endParaRPr lang="en-US" sz="1200" dirty="0"/>
          </a:p>
        </p:txBody>
      </p:sp>
      <p:sp>
        <p:nvSpPr>
          <p:cNvPr id="13" name="Text 10"/>
          <p:cNvSpPr/>
          <p:nvPr/>
        </p:nvSpPr>
        <p:spPr>
          <a:xfrm>
            <a:off x="3361943" y="5327452"/>
            <a:ext cx="2579425" cy="335558"/>
          </a:xfrm>
          <a:prstGeom prst="rect">
            <a:avLst/>
          </a:prstGeom>
          <a:noFill/>
          <a:ln/>
        </p:spPr>
        <p:txBody>
          <a:bodyPr wrap="none" lIns="0" tIns="0" rIns="0" bIns="0" rtlCol="0" anchor="t"/>
          <a:lstStyle/>
          <a:p>
            <a:pPr marL="0" indent="0" algn="ctr">
              <a:lnSpc>
                <a:spcPct val="83000"/>
              </a:lnSpc>
              <a:buNone/>
            </a:pPr>
            <a:r>
              <a:rPr lang="en-US" sz="2600" b="1" dirty="0">
                <a:solidFill>
                  <a:srgbClr val="403C4E"/>
                </a:solidFill>
                <a:latin typeface="Merriweather Bold" pitchFamily="34" charset="0"/>
                <a:ea typeface="Merriweather Bold" pitchFamily="34" charset="-122"/>
                <a:cs typeface="Merriweather Bold" pitchFamily="34" charset="-120"/>
              </a:rPr>
              <a:t>$462</a:t>
            </a:r>
            <a:endParaRPr lang="en-US" sz="2600" dirty="0"/>
          </a:p>
        </p:txBody>
      </p:sp>
      <p:sp>
        <p:nvSpPr>
          <p:cNvPr id="14" name="Text 11"/>
          <p:cNvSpPr/>
          <p:nvPr/>
        </p:nvSpPr>
        <p:spPr>
          <a:xfrm>
            <a:off x="3361943" y="5798939"/>
            <a:ext cx="2579425" cy="197743"/>
          </a:xfrm>
          <a:prstGeom prst="rect">
            <a:avLst/>
          </a:prstGeom>
          <a:noFill/>
          <a:ln/>
        </p:spPr>
        <p:txBody>
          <a:bodyPr wrap="none" lIns="0" tIns="0" rIns="0" bIns="0" rtlCol="0" anchor="t"/>
          <a:lstStyle/>
          <a:p>
            <a:pPr marL="0" indent="0" algn="ctr">
              <a:lnSpc>
                <a:spcPct val="104000"/>
              </a:lnSpc>
              <a:buNone/>
            </a:pPr>
            <a:r>
              <a:rPr lang="en-US" sz="1200" b="1" dirty="0">
                <a:solidFill>
                  <a:srgbClr val="403C4E"/>
                </a:solidFill>
                <a:latin typeface="Merriweather Bold" pitchFamily="34" charset="0"/>
                <a:ea typeface="Merriweather Bold" pitchFamily="34" charset="-122"/>
                <a:cs typeface="Merriweather Bold" pitchFamily="34" charset="-120"/>
              </a:rPr>
              <a:t>Private Room</a:t>
            </a:r>
            <a:endParaRPr lang="en-US" sz="1200" dirty="0"/>
          </a:p>
        </p:txBody>
      </p:sp>
      <p:sp>
        <p:nvSpPr>
          <p:cNvPr id="15" name="Text 12"/>
          <p:cNvSpPr/>
          <p:nvPr/>
        </p:nvSpPr>
        <p:spPr>
          <a:xfrm>
            <a:off x="3361943" y="6093619"/>
            <a:ext cx="2579425" cy="178792"/>
          </a:xfrm>
          <a:prstGeom prst="rect">
            <a:avLst/>
          </a:prstGeom>
          <a:noFill/>
          <a:ln/>
        </p:spPr>
        <p:txBody>
          <a:bodyPr wrap="none" lIns="0" tIns="0" rIns="0" bIns="0" rtlCol="0" anchor="t"/>
          <a:lstStyle/>
          <a:p>
            <a:pPr marL="0" indent="0" algn="ctr">
              <a:lnSpc>
                <a:spcPct val="118000"/>
              </a:lnSpc>
              <a:buNone/>
            </a:pPr>
            <a:r>
              <a:rPr lang="en-US" sz="950" dirty="0">
                <a:solidFill>
                  <a:srgbClr val="403C4E"/>
                </a:solidFill>
                <a:latin typeface="Open Sans" pitchFamily="34" charset="0"/>
                <a:ea typeface="Open Sans" pitchFamily="34" charset="-122"/>
                <a:cs typeface="Open Sans" pitchFamily="34" charset="-120"/>
              </a:rPr>
              <a:t>Most affordable option</a:t>
            </a:r>
            <a:endParaRPr lang="en-US" sz="950" dirty="0"/>
          </a:p>
        </p:txBody>
      </p:sp>
      <p:sp>
        <p:nvSpPr>
          <p:cNvPr id="16" name="Shape 13"/>
          <p:cNvSpPr/>
          <p:nvPr/>
        </p:nvSpPr>
        <p:spPr>
          <a:xfrm>
            <a:off x="6165497" y="3203773"/>
            <a:ext cx="5462252" cy="3177679"/>
          </a:xfrm>
          <a:prstGeom prst="roundRect">
            <a:avLst>
              <a:gd name="adj" fmla="val 2869"/>
            </a:avLst>
          </a:prstGeom>
          <a:solidFill>
            <a:srgbClr val="FFEDBF"/>
          </a:solidFill>
          <a:ln/>
        </p:spPr>
      </p:sp>
      <p:sp>
        <p:nvSpPr>
          <p:cNvPr id="17" name="Text 14"/>
          <p:cNvSpPr/>
          <p:nvPr/>
        </p:nvSpPr>
        <p:spPr>
          <a:xfrm>
            <a:off x="6292097" y="3300710"/>
            <a:ext cx="5209052" cy="197743"/>
          </a:xfrm>
          <a:prstGeom prst="rect">
            <a:avLst/>
          </a:prstGeom>
          <a:noFill/>
          <a:ln/>
        </p:spPr>
        <p:txBody>
          <a:bodyPr wrap="none" lIns="0" tIns="0" rIns="0" bIns="0" rtlCol="0" anchor="t"/>
          <a:lstStyle/>
          <a:p>
            <a:pPr marL="0" indent="0" algn="l">
              <a:lnSpc>
                <a:spcPct val="104000"/>
              </a:lnSpc>
              <a:buNone/>
            </a:pPr>
            <a:r>
              <a:rPr lang="en-US" sz="1200" b="1" dirty="0">
                <a:solidFill>
                  <a:srgbClr val="403C4E"/>
                </a:solidFill>
                <a:latin typeface="Merriweather Bold" pitchFamily="34" charset="0"/>
                <a:ea typeface="Merriweather Bold" pitchFamily="34" charset="-122"/>
                <a:cs typeface="Merriweather Bold" pitchFamily="34" charset="-120"/>
              </a:rPr>
              <a:t>Q2: What does this price difference mean for the business?</a:t>
            </a:r>
            <a:endParaRPr lang="en-US" sz="1200" dirty="0"/>
          </a:p>
        </p:txBody>
      </p:sp>
      <p:sp>
        <p:nvSpPr>
          <p:cNvPr id="18" name="Text 15"/>
          <p:cNvSpPr/>
          <p:nvPr/>
        </p:nvSpPr>
        <p:spPr>
          <a:xfrm>
            <a:off x="6292097" y="3595390"/>
            <a:ext cx="5209052"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403C4E"/>
                </a:solidFill>
                <a:latin typeface="Open Sans" pitchFamily="34" charset="0"/>
                <a:ea typeface="Open Sans" pitchFamily="34" charset="-122"/>
                <a:cs typeface="Open Sans" pitchFamily="34" charset="-120"/>
              </a:rPr>
              <a:t>It shows that Nestivo offers a range of stay types across different price points. This helps Nestivo serve both premium and budget-conscious guests.</a:t>
            </a:r>
            <a:endParaRPr lang="en-US" sz="950" dirty="0"/>
          </a:p>
        </p:txBody>
      </p:sp>
      <p:sp>
        <p:nvSpPr>
          <p:cNvPr id="19" name="Text 16"/>
          <p:cNvSpPr/>
          <p:nvPr/>
        </p:nvSpPr>
        <p:spPr>
          <a:xfrm>
            <a:off x="6292097" y="4049911"/>
            <a:ext cx="5209052" cy="197743"/>
          </a:xfrm>
          <a:prstGeom prst="rect">
            <a:avLst/>
          </a:prstGeom>
          <a:noFill/>
          <a:ln/>
        </p:spPr>
        <p:txBody>
          <a:bodyPr wrap="none" lIns="0" tIns="0" rIns="0" bIns="0" rtlCol="0" anchor="t"/>
          <a:lstStyle/>
          <a:p>
            <a:pPr marL="0" indent="0" algn="l">
              <a:lnSpc>
                <a:spcPct val="104000"/>
              </a:lnSpc>
              <a:buNone/>
            </a:pPr>
            <a:r>
              <a:rPr lang="en-US" sz="1200" b="1" dirty="0">
                <a:solidFill>
                  <a:srgbClr val="403C4E"/>
                </a:solidFill>
                <a:latin typeface="Merriweather Bold" pitchFamily="34" charset="0"/>
                <a:ea typeface="Merriweather Bold" pitchFamily="34" charset="-122"/>
                <a:cs typeface="Merriweather Bold" pitchFamily="34" charset="-120"/>
              </a:rPr>
              <a:t>Observation &amp; Business Action</a:t>
            </a:r>
            <a:endParaRPr lang="en-US" sz="1200" dirty="0"/>
          </a:p>
        </p:txBody>
      </p:sp>
      <p:sp>
        <p:nvSpPr>
          <p:cNvPr id="20" name="Text 17"/>
          <p:cNvSpPr/>
          <p:nvPr/>
        </p:nvSpPr>
        <p:spPr>
          <a:xfrm>
            <a:off x="6292097" y="4344591"/>
            <a:ext cx="5209052" cy="536377"/>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403C4E"/>
                </a:solidFill>
                <a:latin typeface="Open Sans" pitchFamily="34" charset="0"/>
                <a:ea typeface="Open Sans" pitchFamily="34" charset="-122"/>
                <a:cs typeface="Open Sans" pitchFamily="34" charset="-120"/>
              </a:rPr>
              <a:t>Nestivo can use this pricing split to design targeted pricing, promotions, and guest segments. For example, premium cities and room types may support higher margins, while lower-priced categories may help attract more volume.</a:t>
            </a:r>
            <a:endParaRPr lang="en-US" sz="950" dirty="0"/>
          </a:p>
        </p:txBody>
      </p:sp>
      <p:pic>
        <p:nvPicPr>
          <p:cNvPr id="21"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92097" y="4990009"/>
            <a:ext cx="2556009" cy="930870"/>
          </a:xfrm>
          <a:prstGeom prst="rect">
            <a:avLst/>
          </a:prstGeom>
        </p:spPr>
      </p:pic>
      <p:sp>
        <p:nvSpPr>
          <p:cNvPr id="22" name="Text 18"/>
          <p:cNvSpPr/>
          <p:nvPr/>
        </p:nvSpPr>
        <p:spPr>
          <a:xfrm>
            <a:off x="6482196" y="5129312"/>
            <a:ext cx="2226611" cy="197743"/>
          </a:xfrm>
          <a:prstGeom prst="rect">
            <a:avLst/>
          </a:prstGeom>
          <a:noFill/>
          <a:ln/>
        </p:spPr>
        <p:txBody>
          <a:bodyPr wrap="none" lIns="0" tIns="0" rIns="0" bIns="0" rtlCol="0" anchor="t"/>
          <a:lstStyle/>
          <a:p>
            <a:pPr marL="0" indent="0" algn="l">
              <a:lnSpc>
                <a:spcPct val="104000"/>
              </a:lnSpc>
              <a:buNone/>
            </a:pPr>
            <a:r>
              <a:rPr lang="en-US" sz="1200" b="1" dirty="0">
                <a:solidFill>
                  <a:srgbClr val="403C4E"/>
                </a:solidFill>
                <a:latin typeface="Merriweather Bold" pitchFamily="34" charset="0"/>
                <a:ea typeface="Merriweather Bold" pitchFamily="34" charset="-122"/>
                <a:cs typeface="Merriweather Bold" pitchFamily="34" charset="-120"/>
              </a:rPr>
              <a:t>Premium Segment</a:t>
            </a:r>
            <a:endParaRPr lang="en-US" sz="1200" dirty="0"/>
          </a:p>
        </p:txBody>
      </p:sp>
      <p:sp>
        <p:nvSpPr>
          <p:cNvPr id="23" name="Text 19"/>
          <p:cNvSpPr/>
          <p:nvPr/>
        </p:nvSpPr>
        <p:spPr>
          <a:xfrm>
            <a:off x="6482196" y="5423991"/>
            <a:ext cx="2226611"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403C4E"/>
                </a:solidFill>
                <a:latin typeface="Open Sans" pitchFamily="34" charset="0"/>
                <a:ea typeface="Open Sans" pitchFamily="34" charset="-122"/>
                <a:cs typeface="Open Sans" pitchFamily="34" charset="-120"/>
              </a:rPr>
              <a:t>Hotel rooms &amp; entire places — higher margins, premium cities</a:t>
            </a:r>
            <a:endParaRPr lang="en-US" sz="950" dirty="0"/>
          </a:p>
        </p:txBody>
      </p:sp>
      <p:pic>
        <p:nvPicPr>
          <p:cNvPr id="24"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45041" y="4990009"/>
            <a:ext cx="2556109" cy="930870"/>
          </a:xfrm>
          <a:prstGeom prst="rect">
            <a:avLst/>
          </a:prstGeom>
        </p:spPr>
      </p:pic>
      <p:sp>
        <p:nvSpPr>
          <p:cNvPr id="25" name="Text 20"/>
          <p:cNvSpPr/>
          <p:nvPr/>
        </p:nvSpPr>
        <p:spPr>
          <a:xfrm>
            <a:off x="9135139" y="5129312"/>
            <a:ext cx="2226711" cy="197743"/>
          </a:xfrm>
          <a:prstGeom prst="rect">
            <a:avLst/>
          </a:prstGeom>
          <a:noFill/>
          <a:ln/>
        </p:spPr>
        <p:txBody>
          <a:bodyPr wrap="none" lIns="0" tIns="0" rIns="0" bIns="0" rtlCol="0" anchor="t"/>
          <a:lstStyle/>
          <a:p>
            <a:pPr marL="0" indent="0" algn="l">
              <a:lnSpc>
                <a:spcPct val="104000"/>
              </a:lnSpc>
              <a:buNone/>
            </a:pPr>
            <a:r>
              <a:rPr lang="en-US" sz="1200" b="1" dirty="0">
                <a:solidFill>
                  <a:srgbClr val="403C4E"/>
                </a:solidFill>
                <a:latin typeface="Merriweather Bold" pitchFamily="34" charset="0"/>
                <a:ea typeface="Merriweather Bold" pitchFamily="34" charset="-122"/>
                <a:cs typeface="Merriweather Bold" pitchFamily="34" charset="-120"/>
              </a:rPr>
              <a:t>Volume Segment</a:t>
            </a:r>
            <a:endParaRPr lang="en-US" sz="1200" dirty="0"/>
          </a:p>
        </p:txBody>
      </p:sp>
      <p:sp>
        <p:nvSpPr>
          <p:cNvPr id="26" name="Text 21"/>
          <p:cNvSpPr/>
          <p:nvPr/>
        </p:nvSpPr>
        <p:spPr>
          <a:xfrm>
            <a:off x="9135139" y="5423991"/>
            <a:ext cx="2226711"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403C4E"/>
                </a:solidFill>
                <a:latin typeface="Open Sans" pitchFamily="34" charset="0"/>
                <a:ea typeface="Open Sans" pitchFamily="34" charset="-122"/>
                <a:cs typeface="Open Sans" pitchFamily="34" charset="-120"/>
              </a:rPr>
              <a:t>Private &amp; shared rooms — attract budget-conscious guests at scale</a:t>
            </a:r>
            <a:endParaRPr lang="en-US" sz="950" dirty="0"/>
          </a:p>
        </p:txBody>
      </p:sp>
      <p:sp>
        <p:nvSpPr>
          <p:cNvPr id="27" name="Rectangle 26">
            <a:extLst>
              <a:ext uri="{FF2B5EF4-FFF2-40B4-BE49-F238E27FC236}">
                <a16:creationId xmlns:a16="http://schemas.microsoft.com/office/drawing/2014/main" id="{8326BB8B-C264-3501-6C83-B53BEA0B8291}"/>
              </a:ext>
            </a:extLst>
          </p:cNvPr>
          <p:cNvSpPr/>
          <p:nvPr/>
        </p:nvSpPr>
        <p:spPr>
          <a:xfrm>
            <a:off x="11052202" y="6521573"/>
            <a:ext cx="1106752" cy="31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09885"/>
            <a:ext cx="10868745" cy="331093"/>
          </a:xfrm>
          <a:prstGeom prst="rect">
            <a:avLst/>
          </a:prstGeom>
          <a:noFill/>
          <a:ln/>
        </p:spPr>
        <p:txBody>
          <a:bodyPr wrap="none" lIns="0" tIns="0" rIns="0" bIns="0" rtlCol="0" anchor="t"/>
          <a:lstStyle/>
          <a:p>
            <a:pPr marL="0" indent="0" algn="l">
              <a:lnSpc>
                <a:spcPct val="104000"/>
              </a:lnSpc>
              <a:buNone/>
            </a:pPr>
            <a:r>
              <a:rPr lang="en-US" sz="2050" b="1" dirty="0">
                <a:solidFill>
                  <a:srgbClr val="403C4E"/>
                </a:solidFill>
                <a:latin typeface="Merriweather Bold" pitchFamily="34" charset="0"/>
                <a:ea typeface="Merriweather Bold" pitchFamily="34" charset="-122"/>
                <a:cs typeface="Merriweather Bold" pitchFamily="34" charset="-120"/>
              </a:rPr>
              <a:t>Best and Weakest Cities by Overall Ratings</a:t>
            </a:r>
            <a:endParaRPr lang="en-US" sz="2050" dirty="0"/>
          </a:p>
        </p:txBody>
      </p:sp>
      <p:pic>
        <p:nvPicPr>
          <p:cNvPr id="3" name="Image 0" descr="preencoded.png"/>
          <p:cNvPicPr>
            <a:picLocks noChangeAspect="1"/>
          </p:cNvPicPr>
          <p:nvPr/>
        </p:nvPicPr>
        <p:blipFill>
          <a:blip r:embed="rId3"/>
          <a:stretch>
            <a:fillRect/>
          </a:stretch>
        </p:blipFill>
        <p:spPr>
          <a:xfrm>
            <a:off x="2614547" y="976709"/>
            <a:ext cx="6962601" cy="3301802"/>
          </a:xfrm>
          <a:prstGeom prst="rect">
            <a:avLst/>
          </a:prstGeom>
        </p:spPr>
      </p:pic>
      <p:sp>
        <p:nvSpPr>
          <p:cNvPr id="4" name="Text 1"/>
          <p:cNvSpPr/>
          <p:nvPr/>
        </p:nvSpPr>
        <p:spPr>
          <a:xfrm>
            <a:off x="661475" y="4422676"/>
            <a:ext cx="5305193" cy="165497"/>
          </a:xfrm>
          <a:prstGeom prst="rect">
            <a:avLst/>
          </a:prstGeom>
          <a:noFill/>
          <a:ln/>
        </p:spPr>
        <p:txBody>
          <a:bodyPr wrap="none" lIns="0" tIns="0" rIns="0" bIns="0" rtlCol="0" anchor="t"/>
          <a:lstStyle/>
          <a:p>
            <a:pPr marL="0" indent="0" algn="l">
              <a:lnSpc>
                <a:spcPct val="104000"/>
              </a:lnSpc>
              <a:buNone/>
            </a:pPr>
            <a:r>
              <a:rPr lang="en-US" sz="1000" b="1" dirty="0">
                <a:solidFill>
                  <a:srgbClr val="403C4E"/>
                </a:solidFill>
                <a:latin typeface="Merriweather Bold" pitchFamily="34" charset="0"/>
                <a:ea typeface="Merriweather Bold" pitchFamily="34" charset="-122"/>
                <a:cs typeface="Merriweather Bold" pitchFamily="34" charset="-120"/>
              </a:rPr>
              <a:t>Q1: Which cities deliver the best overall guest experience?</a:t>
            </a:r>
            <a:endParaRPr lang="en-US" sz="1000" dirty="0"/>
          </a:p>
        </p:txBody>
      </p:sp>
      <p:sp>
        <p:nvSpPr>
          <p:cNvPr id="5" name="Text 2"/>
          <p:cNvSpPr/>
          <p:nvPr/>
        </p:nvSpPr>
        <p:spPr>
          <a:xfrm>
            <a:off x="661475" y="4656038"/>
            <a:ext cx="5305193" cy="278011"/>
          </a:xfrm>
          <a:prstGeom prst="rect">
            <a:avLst/>
          </a:prstGeom>
          <a:noFill/>
          <a:ln/>
        </p:spPr>
        <p:txBody>
          <a:bodyPr wrap="square" lIns="0" tIns="0" rIns="0" bIns="0" rtlCol="0" anchor="t">
            <a:normAutofit/>
          </a:bodyPr>
          <a:lstStyle/>
          <a:p>
            <a:pPr marL="0" indent="0" algn="l">
              <a:lnSpc>
                <a:spcPct val="109000"/>
              </a:lnSpc>
              <a:buNone/>
            </a:pPr>
            <a:r>
              <a:rPr lang="en-US" sz="800" dirty="0">
                <a:solidFill>
                  <a:srgbClr val="403C4E"/>
                </a:solidFill>
                <a:latin typeface="Open Sans" pitchFamily="34" charset="0"/>
                <a:ea typeface="Open Sans" pitchFamily="34" charset="-122"/>
                <a:cs typeface="Open Sans" pitchFamily="34" charset="-120"/>
              </a:rPr>
              <a:t>The Overall Ratings view shows </a:t>
            </a:r>
            <a:r>
              <a:rPr lang="en-US" sz="800" b="1" dirty="0">
                <a:solidFill>
                  <a:srgbClr val="403C4E"/>
                </a:solidFill>
                <a:latin typeface="Open Sans Bold" pitchFamily="34" charset="0"/>
                <a:ea typeface="Open Sans Bold" pitchFamily="34" charset="-122"/>
                <a:cs typeface="Open Sans Bold" pitchFamily="34" charset="-120"/>
              </a:rPr>
              <a:t>Mexico City</a:t>
            </a:r>
            <a:r>
              <a:rPr lang="en-US" sz="800" dirty="0">
                <a:solidFill>
                  <a:srgbClr val="403C4E"/>
                </a:solidFill>
                <a:latin typeface="Open Sans" pitchFamily="34" charset="0"/>
                <a:ea typeface="Open Sans" pitchFamily="34" charset="-122"/>
                <a:cs typeface="Open Sans" pitchFamily="34" charset="-120"/>
              </a:rPr>
              <a:t> leading with </a:t>
            </a:r>
            <a:r>
              <a:rPr lang="en-US" sz="800" b="1" dirty="0">
                <a:solidFill>
                  <a:srgbClr val="403C4E"/>
                </a:solidFill>
                <a:latin typeface="Open Sans Bold" pitchFamily="34" charset="0"/>
                <a:ea typeface="Open Sans Bold" pitchFamily="34" charset="-122"/>
                <a:cs typeface="Open Sans Bold" pitchFamily="34" charset="-120"/>
              </a:rPr>
              <a:t>94.8</a:t>
            </a:r>
            <a:r>
              <a:rPr lang="en-US" sz="800" dirty="0">
                <a:solidFill>
                  <a:srgbClr val="403C4E"/>
                </a:solidFill>
                <a:latin typeface="Open Sans" pitchFamily="34" charset="0"/>
                <a:ea typeface="Open Sans" pitchFamily="34" charset="-122"/>
                <a:cs typeface="Open Sans" pitchFamily="34" charset="-120"/>
              </a:rPr>
              <a:t>, followed by </a:t>
            </a:r>
            <a:r>
              <a:rPr lang="en-US" sz="800" b="1" dirty="0">
                <a:solidFill>
                  <a:srgbClr val="403C4E"/>
                </a:solidFill>
                <a:latin typeface="Open Sans Bold" pitchFamily="34" charset="0"/>
                <a:ea typeface="Open Sans Bold" pitchFamily="34" charset="-122"/>
                <a:cs typeface="Open Sans Bold" pitchFamily="34" charset="-120"/>
              </a:rPr>
              <a:t>Rio de Janeiro</a:t>
            </a:r>
            <a:r>
              <a:rPr lang="en-US" sz="800" dirty="0">
                <a:solidFill>
                  <a:srgbClr val="403C4E"/>
                </a:solidFill>
                <a:latin typeface="Open Sans" pitchFamily="34" charset="0"/>
                <a:ea typeface="Open Sans" pitchFamily="34" charset="-122"/>
                <a:cs typeface="Open Sans" pitchFamily="34" charset="-120"/>
              </a:rPr>
              <a:t> at </a:t>
            </a:r>
            <a:r>
              <a:rPr lang="en-US" sz="800" b="1" dirty="0">
                <a:solidFill>
                  <a:srgbClr val="403C4E"/>
                </a:solidFill>
                <a:latin typeface="Open Sans Bold" pitchFamily="34" charset="0"/>
                <a:ea typeface="Open Sans Bold" pitchFamily="34" charset="-122"/>
                <a:cs typeface="Open Sans Bold" pitchFamily="34" charset="-120"/>
              </a:rPr>
              <a:t>94.6</a:t>
            </a:r>
            <a:r>
              <a:rPr lang="en-US" sz="800" dirty="0">
                <a:solidFill>
                  <a:srgbClr val="403C4E"/>
                </a:solidFill>
                <a:latin typeface="Open Sans" pitchFamily="34" charset="0"/>
                <a:ea typeface="Open Sans" pitchFamily="34" charset="-122"/>
                <a:cs typeface="Open Sans" pitchFamily="34" charset="-120"/>
              </a:rPr>
              <a:t> and </a:t>
            </a:r>
            <a:r>
              <a:rPr lang="en-US" sz="800" b="1" dirty="0">
                <a:solidFill>
                  <a:srgbClr val="403C4E"/>
                </a:solidFill>
                <a:latin typeface="Open Sans Bold" pitchFamily="34" charset="0"/>
                <a:ea typeface="Open Sans Bold" pitchFamily="34" charset="-122"/>
                <a:cs typeface="Open Sans Bold" pitchFamily="34" charset="-120"/>
              </a:rPr>
              <a:t>Cape Town</a:t>
            </a:r>
            <a:r>
              <a:rPr lang="en-US" sz="800" dirty="0">
                <a:solidFill>
                  <a:srgbClr val="403C4E"/>
                </a:solidFill>
                <a:latin typeface="Open Sans" pitchFamily="34" charset="0"/>
                <a:ea typeface="Open Sans" pitchFamily="34" charset="-122"/>
                <a:cs typeface="Open Sans" pitchFamily="34" charset="-120"/>
              </a:rPr>
              <a:t> at </a:t>
            </a:r>
            <a:r>
              <a:rPr lang="en-US" sz="800" b="1" dirty="0">
                <a:solidFill>
                  <a:srgbClr val="403C4E"/>
                </a:solidFill>
                <a:latin typeface="Open Sans Bold" pitchFamily="34" charset="0"/>
                <a:ea typeface="Open Sans Bold" pitchFamily="34" charset="-122"/>
                <a:cs typeface="Open Sans Bold" pitchFamily="34" charset="-120"/>
              </a:rPr>
              <a:t>94.4</a:t>
            </a:r>
            <a:r>
              <a:rPr lang="en-US" sz="800" dirty="0">
                <a:solidFill>
                  <a:srgbClr val="403C4E"/>
                </a:solidFill>
                <a:latin typeface="Open Sans" pitchFamily="34" charset="0"/>
                <a:ea typeface="Open Sans" pitchFamily="34" charset="-122"/>
                <a:cs typeface="Open Sans" pitchFamily="34" charset="-120"/>
              </a:rPr>
              <a:t>. These cities represent the strongest guest experience in the dataset.</a:t>
            </a:r>
            <a:endParaRPr lang="en-US" sz="800" dirty="0"/>
          </a:p>
        </p:txBody>
      </p:sp>
      <p:sp>
        <p:nvSpPr>
          <p:cNvPr id="6" name="Shape 3"/>
          <p:cNvSpPr/>
          <p:nvPr/>
        </p:nvSpPr>
        <p:spPr>
          <a:xfrm>
            <a:off x="661475" y="5010348"/>
            <a:ext cx="2618615" cy="596801"/>
          </a:xfrm>
          <a:prstGeom prst="roundRect">
            <a:avLst>
              <a:gd name="adj" fmla="val 7457"/>
            </a:avLst>
          </a:prstGeom>
          <a:solidFill>
            <a:srgbClr val="FFD8CC"/>
          </a:solidFill>
          <a:ln w="6350">
            <a:solidFill>
              <a:srgbClr val="E5BEB2"/>
            </a:solidFill>
            <a:prstDash val="solid"/>
          </a:ln>
        </p:spPr>
      </p:sp>
      <p:sp>
        <p:nvSpPr>
          <p:cNvPr id="7" name="Text 4"/>
          <p:cNvSpPr/>
          <p:nvPr/>
        </p:nvSpPr>
        <p:spPr>
          <a:xfrm>
            <a:off x="773688" y="5122565"/>
            <a:ext cx="2394188" cy="165497"/>
          </a:xfrm>
          <a:prstGeom prst="rect">
            <a:avLst/>
          </a:prstGeom>
          <a:noFill/>
          <a:ln/>
        </p:spPr>
        <p:txBody>
          <a:bodyPr wrap="none" lIns="0" tIns="0" rIns="0" bIns="0" rtlCol="0" anchor="t"/>
          <a:lstStyle/>
          <a:p>
            <a:pPr marL="0" indent="0" algn="l">
              <a:lnSpc>
                <a:spcPct val="104000"/>
              </a:lnSpc>
              <a:buNone/>
            </a:pPr>
            <a:r>
              <a:rPr lang="en-US" sz="1000" b="1" dirty="0">
                <a:solidFill>
                  <a:srgbClr val="000000"/>
                </a:solidFill>
                <a:latin typeface="Twemoji Mozilla" pitchFamily="34" charset="0"/>
                <a:ea typeface="Twemoji Mozilla" pitchFamily="34" charset="-122"/>
                <a:cs typeface="Twemoji Mozilla" pitchFamily="34" charset="-120"/>
              </a:rPr>
              <a:t>🥇</a:t>
            </a:r>
            <a:r>
              <a:rPr lang="en-US" sz="1000" b="1" dirty="0">
                <a:solidFill>
                  <a:srgbClr val="403C4E"/>
                </a:solidFill>
                <a:latin typeface="Merriweather Bold" pitchFamily="34" charset="0"/>
                <a:ea typeface="Merriweather Bold" pitchFamily="34" charset="-122"/>
                <a:cs typeface="Merriweather Bold" pitchFamily="34" charset="-120"/>
              </a:rPr>
              <a:t> Mexico City</a:t>
            </a:r>
            <a:endParaRPr lang="en-US" sz="1000" dirty="0"/>
          </a:p>
        </p:txBody>
      </p:sp>
      <p:sp>
        <p:nvSpPr>
          <p:cNvPr id="8" name="Text 5"/>
          <p:cNvSpPr/>
          <p:nvPr/>
        </p:nvSpPr>
        <p:spPr>
          <a:xfrm>
            <a:off x="773688" y="5355927"/>
            <a:ext cx="2394188" cy="139005"/>
          </a:xfrm>
          <a:prstGeom prst="rect">
            <a:avLst/>
          </a:prstGeom>
          <a:noFill/>
          <a:ln/>
        </p:spPr>
        <p:txBody>
          <a:bodyPr wrap="none" lIns="0" tIns="0" rIns="0" bIns="0" rtlCol="0" anchor="t"/>
          <a:lstStyle/>
          <a:p>
            <a:pPr marL="0" indent="0" algn="l">
              <a:lnSpc>
                <a:spcPct val="109000"/>
              </a:lnSpc>
              <a:buNone/>
            </a:pPr>
            <a:r>
              <a:rPr lang="en-US" sz="800" b="1" dirty="0">
                <a:solidFill>
                  <a:srgbClr val="403C4E"/>
                </a:solidFill>
                <a:latin typeface="Open Sans Bold" pitchFamily="34" charset="0"/>
                <a:ea typeface="Open Sans Bold" pitchFamily="34" charset="-122"/>
                <a:cs typeface="Open Sans Bold" pitchFamily="34" charset="-120"/>
              </a:rPr>
              <a:t>94.8</a:t>
            </a:r>
            <a:r>
              <a:rPr lang="en-US" sz="800" dirty="0">
                <a:solidFill>
                  <a:srgbClr val="403C4E"/>
                </a:solidFill>
                <a:latin typeface="Open Sans" pitchFamily="34" charset="0"/>
                <a:ea typeface="Open Sans" pitchFamily="34" charset="-122"/>
                <a:cs typeface="Open Sans" pitchFamily="34" charset="-120"/>
              </a:rPr>
              <a:t> — Top rated</a:t>
            </a:r>
            <a:endParaRPr lang="en-US" sz="800" dirty="0"/>
          </a:p>
        </p:txBody>
      </p:sp>
      <p:sp>
        <p:nvSpPr>
          <p:cNvPr id="9" name="Shape 6"/>
          <p:cNvSpPr/>
          <p:nvPr/>
        </p:nvSpPr>
        <p:spPr>
          <a:xfrm>
            <a:off x="3347954" y="5010348"/>
            <a:ext cx="2618714" cy="596801"/>
          </a:xfrm>
          <a:prstGeom prst="roundRect">
            <a:avLst>
              <a:gd name="adj" fmla="val 7457"/>
            </a:avLst>
          </a:prstGeom>
          <a:solidFill>
            <a:srgbClr val="FFD8CC"/>
          </a:solidFill>
          <a:ln w="6350">
            <a:solidFill>
              <a:srgbClr val="E5BEB2"/>
            </a:solidFill>
            <a:prstDash val="solid"/>
          </a:ln>
        </p:spPr>
      </p:sp>
      <p:sp>
        <p:nvSpPr>
          <p:cNvPr id="10" name="Text 7"/>
          <p:cNvSpPr/>
          <p:nvPr/>
        </p:nvSpPr>
        <p:spPr>
          <a:xfrm>
            <a:off x="3460167" y="5122565"/>
            <a:ext cx="2394287" cy="165497"/>
          </a:xfrm>
          <a:prstGeom prst="rect">
            <a:avLst/>
          </a:prstGeom>
          <a:noFill/>
          <a:ln/>
        </p:spPr>
        <p:txBody>
          <a:bodyPr wrap="none" lIns="0" tIns="0" rIns="0" bIns="0" rtlCol="0" anchor="t"/>
          <a:lstStyle/>
          <a:p>
            <a:pPr marL="0" indent="0" algn="l">
              <a:lnSpc>
                <a:spcPct val="104000"/>
              </a:lnSpc>
              <a:buNone/>
            </a:pPr>
            <a:r>
              <a:rPr lang="en-US" sz="1000" b="1" dirty="0">
                <a:solidFill>
                  <a:srgbClr val="000000"/>
                </a:solidFill>
                <a:latin typeface="Twemoji Mozilla" pitchFamily="34" charset="0"/>
                <a:ea typeface="Twemoji Mozilla" pitchFamily="34" charset="-122"/>
                <a:cs typeface="Twemoji Mozilla" pitchFamily="34" charset="-120"/>
              </a:rPr>
              <a:t>🥈</a:t>
            </a:r>
            <a:r>
              <a:rPr lang="en-US" sz="1000" b="1" dirty="0">
                <a:solidFill>
                  <a:srgbClr val="403C4E"/>
                </a:solidFill>
                <a:latin typeface="Merriweather Bold" pitchFamily="34" charset="0"/>
                <a:ea typeface="Merriweather Bold" pitchFamily="34" charset="-122"/>
                <a:cs typeface="Merriweather Bold" pitchFamily="34" charset="-120"/>
              </a:rPr>
              <a:t> Rio de Janeiro</a:t>
            </a:r>
            <a:endParaRPr lang="en-US" sz="1000" dirty="0"/>
          </a:p>
        </p:txBody>
      </p:sp>
      <p:sp>
        <p:nvSpPr>
          <p:cNvPr id="11" name="Text 8"/>
          <p:cNvSpPr/>
          <p:nvPr/>
        </p:nvSpPr>
        <p:spPr>
          <a:xfrm>
            <a:off x="3460167" y="5355927"/>
            <a:ext cx="2394287" cy="139005"/>
          </a:xfrm>
          <a:prstGeom prst="rect">
            <a:avLst/>
          </a:prstGeom>
          <a:noFill/>
          <a:ln/>
        </p:spPr>
        <p:txBody>
          <a:bodyPr wrap="none" lIns="0" tIns="0" rIns="0" bIns="0" rtlCol="0" anchor="t"/>
          <a:lstStyle/>
          <a:p>
            <a:pPr marL="0" indent="0" algn="l">
              <a:lnSpc>
                <a:spcPct val="109000"/>
              </a:lnSpc>
              <a:buNone/>
            </a:pPr>
            <a:r>
              <a:rPr lang="en-US" sz="800" b="1" dirty="0">
                <a:solidFill>
                  <a:srgbClr val="403C4E"/>
                </a:solidFill>
                <a:latin typeface="Open Sans Bold" pitchFamily="34" charset="0"/>
                <a:ea typeface="Open Sans Bold" pitchFamily="34" charset="-122"/>
                <a:cs typeface="Open Sans Bold" pitchFamily="34" charset="-120"/>
              </a:rPr>
              <a:t>94.6</a:t>
            </a:r>
            <a:endParaRPr lang="en-US" sz="800" dirty="0"/>
          </a:p>
        </p:txBody>
      </p:sp>
      <p:sp>
        <p:nvSpPr>
          <p:cNvPr id="12" name="Shape 9"/>
          <p:cNvSpPr/>
          <p:nvPr/>
        </p:nvSpPr>
        <p:spPr>
          <a:xfrm>
            <a:off x="661475" y="5675015"/>
            <a:ext cx="5305193" cy="596801"/>
          </a:xfrm>
          <a:prstGeom prst="roundRect">
            <a:avLst>
              <a:gd name="adj" fmla="val 7457"/>
            </a:avLst>
          </a:prstGeom>
          <a:solidFill>
            <a:srgbClr val="FFD8CC"/>
          </a:solidFill>
          <a:ln w="6350">
            <a:solidFill>
              <a:srgbClr val="E5BEB2"/>
            </a:solidFill>
            <a:prstDash val="solid"/>
          </a:ln>
        </p:spPr>
      </p:sp>
      <p:sp>
        <p:nvSpPr>
          <p:cNvPr id="13" name="Text 10"/>
          <p:cNvSpPr/>
          <p:nvPr/>
        </p:nvSpPr>
        <p:spPr>
          <a:xfrm>
            <a:off x="773688" y="5787231"/>
            <a:ext cx="5080766" cy="165497"/>
          </a:xfrm>
          <a:prstGeom prst="rect">
            <a:avLst/>
          </a:prstGeom>
          <a:noFill/>
          <a:ln/>
        </p:spPr>
        <p:txBody>
          <a:bodyPr wrap="none" lIns="0" tIns="0" rIns="0" bIns="0" rtlCol="0" anchor="t"/>
          <a:lstStyle/>
          <a:p>
            <a:pPr marL="0" indent="0" algn="l">
              <a:lnSpc>
                <a:spcPct val="104000"/>
              </a:lnSpc>
              <a:buNone/>
            </a:pPr>
            <a:r>
              <a:rPr lang="en-US" sz="1000" b="1" dirty="0">
                <a:solidFill>
                  <a:srgbClr val="000000"/>
                </a:solidFill>
                <a:latin typeface="Twemoji Mozilla" pitchFamily="34" charset="0"/>
                <a:ea typeface="Twemoji Mozilla" pitchFamily="34" charset="-122"/>
                <a:cs typeface="Twemoji Mozilla" pitchFamily="34" charset="-120"/>
              </a:rPr>
              <a:t>🥉</a:t>
            </a:r>
            <a:r>
              <a:rPr lang="en-US" sz="1000" b="1" dirty="0">
                <a:solidFill>
                  <a:srgbClr val="403C4E"/>
                </a:solidFill>
                <a:latin typeface="Merriweather Bold" pitchFamily="34" charset="0"/>
                <a:ea typeface="Merriweather Bold" pitchFamily="34" charset="-122"/>
                <a:cs typeface="Merriweather Bold" pitchFamily="34" charset="-120"/>
              </a:rPr>
              <a:t> Cape Town</a:t>
            </a:r>
            <a:endParaRPr lang="en-US" sz="1000" dirty="0"/>
          </a:p>
        </p:txBody>
      </p:sp>
      <p:sp>
        <p:nvSpPr>
          <p:cNvPr id="14" name="Text 11"/>
          <p:cNvSpPr/>
          <p:nvPr/>
        </p:nvSpPr>
        <p:spPr>
          <a:xfrm>
            <a:off x="773688" y="6020594"/>
            <a:ext cx="5080766" cy="139005"/>
          </a:xfrm>
          <a:prstGeom prst="rect">
            <a:avLst/>
          </a:prstGeom>
          <a:noFill/>
          <a:ln/>
        </p:spPr>
        <p:txBody>
          <a:bodyPr wrap="none" lIns="0" tIns="0" rIns="0" bIns="0" rtlCol="0" anchor="t"/>
          <a:lstStyle/>
          <a:p>
            <a:pPr marL="0" indent="0" algn="l">
              <a:lnSpc>
                <a:spcPct val="109000"/>
              </a:lnSpc>
              <a:buNone/>
            </a:pPr>
            <a:r>
              <a:rPr lang="en-US" sz="800" b="1" dirty="0">
                <a:solidFill>
                  <a:srgbClr val="403C4E"/>
                </a:solidFill>
                <a:latin typeface="Open Sans Bold" pitchFamily="34" charset="0"/>
                <a:ea typeface="Open Sans Bold" pitchFamily="34" charset="-122"/>
                <a:cs typeface="Open Sans Bold" pitchFamily="34" charset="-120"/>
              </a:rPr>
              <a:t>94.4</a:t>
            </a:r>
            <a:endParaRPr lang="en-US" sz="800" dirty="0"/>
          </a:p>
        </p:txBody>
      </p:sp>
      <p:sp>
        <p:nvSpPr>
          <p:cNvPr id="15" name="Text 12"/>
          <p:cNvSpPr/>
          <p:nvPr/>
        </p:nvSpPr>
        <p:spPr>
          <a:xfrm>
            <a:off x="6231377" y="4422676"/>
            <a:ext cx="5305193" cy="165497"/>
          </a:xfrm>
          <a:prstGeom prst="rect">
            <a:avLst/>
          </a:prstGeom>
          <a:noFill/>
          <a:ln/>
        </p:spPr>
        <p:txBody>
          <a:bodyPr wrap="none" lIns="0" tIns="0" rIns="0" bIns="0" rtlCol="0" anchor="t"/>
          <a:lstStyle/>
          <a:p>
            <a:pPr marL="0" indent="0" algn="l">
              <a:lnSpc>
                <a:spcPct val="104000"/>
              </a:lnSpc>
              <a:buNone/>
            </a:pPr>
            <a:r>
              <a:rPr lang="en-US" sz="1000" b="1" dirty="0">
                <a:solidFill>
                  <a:srgbClr val="403C4E"/>
                </a:solidFill>
                <a:latin typeface="Merriweather Bold" pitchFamily="34" charset="0"/>
                <a:ea typeface="Merriweather Bold" pitchFamily="34" charset="-122"/>
                <a:cs typeface="Merriweather Bold" pitchFamily="34" charset="-120"/>
              </a:rPr>
              <a:t>Q2: Which cities are underperforming on ratings?</a:t>
            </a:r>
            <a:endParaRPr lang="en-US" sz="1000" dirty="0"/>
          </a:p>
        </p:txBody>
      </p:sp>
      <p:sp>
        <p:nvSpPr>
          <p:cNvPr id="16" name="Text 13"/>
          <p:cNvSpPr/>
          <p:nvPr/>
        </p:nvSpPr>
        <p:spPr>
          <a:xfrm>
            <a:off x="6231377" y="4656038"/>
            <a:ext cx="5305193" cy="278011"/>
          </a:xfrm>
          <a:prstGeom prst="rect">
            <a:avLst/>
          </a:prstGeom>
          <a:noFill/>
          <a:ln/>
        </p:spPr>
        <p:txBody>
          <a:bodyPr wrap="square" lIns="0" tIns="0" rIns="0" bIns="0" rtlCol="0" anchor="t">
            <a:normAutofit/>
          </a:bodyPr>
          <a:lstStyle/>
          <a:p>
            <a:pPr marL="0" indent="0" algn="l">
              <a:lnSpc>
                <a:spcPct val="109000"/>
              </a:lnSpc>
              <a:buNone/>
            </a:pPr>
            <a:r>
              <a:rPr lang="en-US" sz="800" b="1" dirty="0">
                <a:solidFill>
                  <a:srgbClr val="403C4E"/>
                </a:solidFill>
                <a:latin typeface="Open Sans Bold" pitchFamily="34" charset="0"/>
                <a:ea typeface="Open Sans Bold" pitchFamily="34" charset="-122"/>
                <a:cs typeface="Open Sans Bold" pitchFamily="34" charset="-120"/>
              </a:rPr>
              <a:t>Hong Kong</a:t>
            </a:r>
            <a:r>
              <a:rPr lang="en-US" sz="800" dirty="0">
                <a:solidFill>
                  <a:srgbClr val="403C4E"/>
                </a:solidFill>
                <a:latin typeface="Open Sans" pitchFamily="34" charset="0"/>
                <a:ea typeface="Open Sans" pitchFamily="34" charset="-122"/>
                <a:cs typeface="Open Sans" pitchFamily="34" charset="-120"/>
              </a:rPr>
              <a:t> is the lowest-rated city at </a:t>
            </a:r>
            <a:r>
              <a:rPr lang="en-US" sz="800" b="1" dirty="0">
                <a:solidFill>
                  <a:srgbClr val="403C4E"/>
                </a:solidFill>
                <a:latin typeface="Open Sans Bold" pitchFamily="34" charset="0"/>
                <a:ea typeface="Open Sans Bold" pitchFamily="34" charset="-122"/>
                <a:cs typeface="Open Sans Bold" pitchFamily="34" charset="-120"/>
              </a:rPr>
              <a:t>89.7</a:t>
            </a:r>
            <a:r>
              <a:rPr lang="en-US" sz="800" dirty="0">
                <a:solidFill>
                  <a:srgbClr val="403C4E"/>
                </a:solidFill>
                <a:latin typeface="Open Sans" pitchFamily="34" charset="0"/>
                <a:ea typeface="Open Sans" pitchFamily="34" charset="-122"/>
                <a:cs typeface="Open Sans" pitchFamily="34" charset="-120"/>
              </a:rPr>
              <a:t>, and </a:t>
            </a:r>
            <a:r>
              <a:rPr lang="en-US" sz="800" b="1" dirty="0">
                <a:solidFill>
                  <a:srgbClr val="403C4E"/>
                </a:solidFill>
                <a:latin typeface="Open Sans Bold" pitchFamily="34" charset="0"/>
                <a:ea typeface="Open Sans Bold" pitchFamily="34" charset="-122"/>
                <a:cs typeface="Open Sans Bold" pitchFamily="34" charset="-120"/>
              </a:rPr>
              <a:t>Istanbul</a:t>
            </a:r>
            <a:r>
              <a:rPr lang="en-US" sz="800" dirty="0">
                <a:solidFill>
                  <a:srgbClr val="403C4E"/>
                </a:solidFill>
                <a:latin typeface="Open Sans" pitchFamily="34" charset="0"/>
                <a:ea typeface="Open Sans" pitchFamily="34" charset="-122"/>
                <a:cs typeface="Open Sans" pitchFamily="34" charset="-120"/>
              </a:rPr>
              <a:t> is also relatively weaker at </a:t>
            </a:r>
            <a:r>
              <a:rPr lang="en-US" sz="800" b="1" dirty="0">
                <a:solidFill>
                  <a:srgbClr val="403C4E"/>
                </a:solidFill>
                <a:latin typeface="Open Sans Bold" pitchFamily="34" charset="0"/>
                <a:ea typeface="Open Sans Bold" pitchFamily="34" charset="-122"/>
                <a:cs typeface="Open Sans Bold" pitchFamily="34" charset="-120"/>
              </a:rPr>
              <a:t>91.1</a:t>
            </a:r>
            <a:r>
              <a:rPr lang="en-US" sz="800" dirty="0">
                <a:solidFill>
                  <a:srgbClr val="403C4E"/>
                </a:solidFill>
                <a:latin typeface="Open Sans" pitchFamily="34" charset="0"/>
                <a:ea typeface="Open Sans" pitchFamily="34" charset="-122"/>
                <a:cs typeface="Open Sans" pitchFamily="34" charset="-120"/>
              </a:rPr>
              <a:t>. Even though these scores are still strong, they are lower than the rest of the cities and need more attention.</a:t>
            </a:r>
            <a:endParaRPr lang="en-US" sz="800" dirty="0"/>
          </a:p>
        </p:txBody>
      </p:sp>
      <p:pic>
        <p:nvPicPr>
          <p:cNvPr id="1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31377" y="5010348"/>
            <a:ext cx="2618615" cy="609501"/>
          </a:xfrm>
          <a:prstGeom prst="rect">
            <a:avLst/>
          </a:prstGeom>
        </p:spPr>
      </p:pic>
      <p:sp>
        <p:nvSpPr>
          <p:cNvPr id="18" name="Text 14"/>
          <p:cNvSpPr/>
          <p:nvPr/>
        </p:nvSpPr>
        <p:spPr>
          <a:xfrm>
            <a:off x="6400739" y="5128915"/>
            <a:ext cx="2330689" cy="165497"/>
          </a:xfrm>
          <a:prstGeom prst="rect">
            <a:avLst/>
          </a:prstGeom>
          <a:noFill/>
          <a:ln/>
        </p:spPr>
        <p:txBody>
          <a:bodyPr wrap="none" lIns="0" tIns="0" rIns="0" bIns="0" rtlCol="0" anchor="t"/>
          <a:lstStyle/>
          <a:p>
            <a:pPr marL="0" indent="0" algn="l">
              <a:lnSpc>
                <a:spcPct val="104000"/>
              </a:lnSpc>
              <a:buNone/>
            </a:pPr>
            <a:r>
              <a:rPr lang="en-US" sz="1000" b="1" dirty="0">
                <a:solidFill>
                  <a:srgbClr val="403C4E"/>
                </a:solidFill>
                <a:latin typeface="Merriweather Bold" pitchFamily="34" charset="0"/>
                <a:ea typeface="Merriweather Bold" pitchFamily="34" charset="-122"/>
                <a:cs typeface="Merriweather Bold" pitchFamily="34" charset="-120"/>
              </a:rPr>
              <a:t>Hong Kong — 89.7</a:t>
            </a:r>
            <a:endParaRPr lang="en-US" sz="1000" dirty="0"/>
          </a:p>
        </p:txBody>
      </p:sp>
      <p:sp>
        <p:nvSpPr>
          <p:cNvPr id="19" name="Text 15"/>
          <p:cNvSpPr/>
          <p:nvPr/>
        </p:nvSpPr>
        <p:spPr>
          <a:xfrm>
            <a:off x="6400739" y="5362277"/>
            <a:ext cx="2330689" cy="139005"/>
          </a:xfrm>
          <a:prstGeom prst="rect">
            <a:avLst/>
          </a:prstGeom>
          <a:noFill/>
          <a:ln/>
        </p:spPr>
        <p:txBody>
          <a:bodyPr wrap="none" lIns="0" tIns="0" rIns="0" bIns="0" rtlCol="0" anchor="t"/>
          <a:lstStyle/>
          <a:p>
            <a:pPr marL="0" indent="0" algn="l">
              <a:lnSpc>
                <a:spcPct val="109000"/>
              </a:lnSpc>
              <a:buNone/>
            </a:pPr>
            <a:r>
              <a:rPr lang="en-US" sz="800" dirty="0">
                <a:solidFill>
                  <a:srgbClr val="403C4E"/>
                </a:solidFill>
                <a:latin typeface="Open Sans" pitchFamily="34" charset="0"/>
                <a:ea typeface="Open Sans" pitchFamily="34" charset="-122"/>
                <a:cs typeface="Open Sans" pitchFamily="34" charset="-120"/>
              </a:rPr>
              <a:t>Lowest rated city in the dataset</a:t>
            </a:r>
            <a:endParaRPr lang="en-US" sz="800" dirty="0"/>
          </a:p>
        </p:txBody>
      </p:sp>
      <p:pic>
        <p:nvPicPr>
          <p:cNvPr id="20"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17856" y="5010348"/>
            <a:ext cx="2618714" cy="609501"/>
          </a:xfrm>
          <a:prstGeom prst="rect">
            <a:avLst/>
          </a:prstGeom>
        </p:spPr>
      </p:pic>
      <p:sp>
        <p:nvSpPr>
          <p:cNvPr id="21" name="Text 16"/>
          <p:cNvSpPr/>
          <p:nvPr/>
        </p:nvSpPr>
        <p:spPr>
          <a:xfrm>
            <a:off x="9087218" y="5128915"/>
            <a:ext cx="2330789" cy="165497"/>
          </a:xfrm>
          <a:prstGeom prst="rect">
            <a:avLst/>
          </a:prstGeom>
          <a:noFill/>
          <a:ln/>
        </p:spPr>
        <p:txBody>
          <a:bodyPr wrap="none" lIns="0" tIns="0" rIns="0" bIns="0" rtlCol="0" anchor="t"/>
          <a:lstStyle/>
          <a:p>
            <a:pPr marL="0" indent="0" algn="l">
              <a:lnSpc>
                <a:spcPct val="104000"/>
              </a:lnSpc>
              <a:buNone/>
            </a:pPr>
            <a:r>
              <a:rPr lang="en-US" sz="1000" b="1" dirty="0">
                <a:solidFill>
                  <a:srgbClr val="403C4E"/>
                </a:solidFill>
                <a:latin typeface="Merriweather Bold" pitchFamily="34" charset="0"/>
                <a:ea typeface="Merriweather Bold" pitchFamily="34" charset="-122"/>
                <a:cs typeface="Merriweather Bold" pitchFamily="34" charset="-120"/>
              </a:rPr>
              <a:t>Istanbul — 91.1</a:t>
            </a:r>
            <a:endParaRPr lang="en-US" sz="1000" dirty="0"/>
          </a:p>
        </p:txBody>
      </p:sp>
      <p:sp>
        <p:nvSpPr>
          <p:cNvPr id="22" name="Text 17"/>
          <p:cNvSpPr/>
          <p:nvPr/>
        </p:nvSpPr>
        <p:spPr>
          <a:xfrm>
            <a:off x="9087218" y="5362277"/>
            <a:ext cx="2330789" cy="139005"/>
          </a:xfrm>
          <a:prstGeom prst="rect">
            <a:avLst/>
          </a:prstGeom>
          <a:noFill/>
          <a:ln/>
        </p:spPr>
        <p:txBody>
          <a:bodyPr wrap="none" lIns="0" tIns="0" rIns="0" bIns="0" rtlCol="0" anchor="t"/>
          <a:lstStyle/>
          <a:p>
            <a:pPr marL="0" indent="0" algn="l">
              <a:lnSpc>
                <a:spcPct val="109000"/>
              </a:lnSpc>
              <a:buNone/>
            </a:pPr>
            <a:r>
              <a:rPr lang="en-US" sz="800" dirty="0">
                <a:solidFill>
                  <a:srgbClr val="403C4E"/>
                </a:solidFill>
                <a:latin typeface="Open Sans" pitchFamily="34" charset="0"/>
                <a:ea typeface="Open Sans" pitchFamily="34" charset="-122"/>
                <a:cs typeface="Open Sans" pitchFamily="34" charset="-120"/>
              </a:rPr>
              <a:t>Second weakest; below platform average</a:t>
            </a:r>
            <a:endParaRPr lang="en-US" sz="800" dirty="0"/>
          </a:p>
        </p:txBody>
      </p:sp>
      <p:sp>
        <p:nvSpPr>
          <p:cNvPr id="23" name="Shape 18"/>
          <p:cNvSpPr/>
          <p:nvPr/>
        </p:nvSpPr>
        <p:spPr>
          <a:xfrm>
            <a:off x="6231377" y="5696148"/>
            <a:ext cx="5305193" cy="313829"/>
          </a:xfrm>
          <a:prstGeom prst="roundRect">
            <a:avLst>
              <a:gd name="adj" fmla="val 14180"/>
            </a:avLst>
          </a:prstGeom>
          <a:solidFill>
            <a:srgbClr val="FFD8CC"/>
          </a:solidFill>
          <a:ln/>
        </p:spPr>
      </p:sp>
      <p:pic>
        <p:nvPicPr>
          <p:cNvPr id="24" name="Image 3" descr="preencoded.png"/>
          <p:cNvPicPr>
            <a:picLocks noChangeAspect="1"/>
          </p:cNvPicPr>
          <p:nvPr/>
        </p:nvPicPr>
        <p:blipFill>
          <a:blip r:embed="rId6"/>
          <a:stretch>
            <a:fillRect/>
          </a:stretch>
        </p:blipFill>
        <p:spPr>
          <a:xfrm>
            <a:off x="6337241" y="5805686"/>
            <a:ext cx="132355" cy="105866"/>
          </a:xfrm>
          <a:prstGeom prst="rect">
            <a:avLst/>
          </a:prstGeom>
        </p:spPr>
      </p:pic>
      <p:sp>
        <p:nvSpPr>
          <p:cNvPr id="25" name="Text 19"/>
          <p:cNvSpPr/>
          <p:nvPr/>
        </p:nvSpPr>
        <p:spPr>
          <a:xfrm>
            <a:off x="6575459" y="5783560"/>
            <a:ext cx="5464832" cy="139005"/>
          </a:xfrm>
          <a:prstGeom prst="rect">
            <a:avLst/>
          </a:prstGeom>
          <a:noFill/>
          <a:ln/>
        </p:spPr>
        <p:txBody>
          <a:bodyPr wrap="none" lIns="0" tIns="0" rIns="0" bIns="0" rtlCol="0" anchor="t"/>
          <a:lstStyle/>
          <a:p>
            <a:pPr marL="0" indent="0" algn="l">
              <a:lnSpc>
                <a:spcPct val="109000"/>
              </a:lnSpc>
              <a:buNone/>
            </a:pPr>
            <a:r>
              <a:rPr lang="en-US" sz="800" b="1" dirty="0">
                <a:solidFill>
                  <a:srgbClr val="000000"/>
                </a:solidFill>
                <a:latin typeface="Open Sans Bold" pitchFamily="34" charset="0"/>
                <a:ea typeface="Open Sans Bold" pitchFamily="34" charset="-122"/>
                <a:cs typeface="Open Sans Bold" pitchFamily="34" charset="-120"/>
              </a:rPr>
              <a:t>Observation:</a:t>
            </a:r>
            <a:r>
              <a:rPr lang="en-US" sz="800" dirty="0">
                <a:solidFill>
                  <a:srgbClr val="000000"/>
                </a:solidFill>
                <a:latin typeface="Open Sans" pitchFamily="34" charset="0"/>
                <a:ea typeface="Open Sans" pitchFamily="34" charset="-122"/>
                <a:cs typeface="Open Sans" pitchFamily="34" charset="-120"/>
              </a:rPr>
              <a:t> High-rated cities can be used as benchmarks for other locations.</a:t>
            </a:r>
            <a:endParaRPr lang="en-US" sz="800" dirty="0"/>
          </a:p>
        </p:txBody>
      </p:sp>
      <p:sp>
        <p:nvSpPr>
          <p:cNvPr id="26" name="Rectangle 25">
            <a:extLst>
              <a:ext uri="{FF2B5EF4-FFF2-40B4-BE49-F238E27FC236}">
                <a16:creationId xmlns:a16="http://schemas.microsoft.com/office/drawing/2014/main" id="{86570E5F-B599-B3C5-3935-BFE3D85D7D7E}"/>
              </a:ext>
            </a:extLst>
          </p:cNvPr>
          <p:cNvSpPr/>
          <p:nvPr/>
        </p:nvSpPr>
        <p:spPr>
          <a:xfrm>
            <a:off x="11052202" y="6521573"/>
            <a:ext cx="1106752" cy="31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52252"/>
            <a:ext cx="10868745" cy="339130"/>
          </a:xfrm>
          <a:prstGeom prst="rect">
            <a:avLst/>
          </a:prstGeom>
          <a:noFill/>
          <a:ln/>
        </p:spPr>
        <p:txBody>
          <a:bodyPr wrap="none" lIns="0" tIns="0" rIns="0" bIns="0" rtlCol="0" anchor="t"/>
          <a:lstStyle/>
          <a:p>
            <a:pPr marL="0" indent="0" algn="l">
              <a:lnSpc>
                <a:spcPct val="104000"/>
              </a:lnSpc>
              <a:buNone/>
            </a:pPr>
            <a:r>
              <a:rPr lang="en-US" sz="2100" b="1" dirty="0">
                <a:solidFill>
                  <a:srgbClr val="403C4E"/>
                </a:solidFill>
                <a:latin typeface="Merriweather Bold" pitchFamily="34" charset="0"/>
                <a:ea typeface="Merriweather Bold" pitchFamily="34" charset="-122"/>
                <a:cs typeface="Merriweather Bold" pitchFamily="34" charset="-120"/>
              </a:rPr>
              <a:t>What Drives Rating Differences</a:t>
            </a:r>
            <a:endParaRPr lang="en-US" sz="2100" dirty="0"/>
          </a:p>
        </p:txBody>
      </p:sp>
      <p:pic>
        <p:nvPicPr>
          <p:cNvPr id="3" name="Image 0" descr="preencoded.png"/>
          <p:cNvPicPr>
            <a:picLocks noChangeAspect="1"/>
          </p:cNvPicPr>
          <p:nvPr/>
        </p:nvPicPr>
        <p:blipFill>
          <a:blip r:embed="rId3"/>
          <a:stretch>
            <a:fillRect/>
          </a:stretch>
        </p:blipFill>
        <p:spPr>
          <a:xfrm>
            <a:off x="2529618" y="1033760"/>
            <a:ext cx="7132459" cy="2850852"/>
          </a:xfrm>
          <a:prstGeom prst="rect">
            <a:avLst/>
          </a:prstGeom>
        </p:spPr>
      </p:pic>
      <p:sp>
        <p:nvSpPr>
          <p:cNvPr id="4" name="Text 1"/>
          <p:cNvSpPr/>
          <p:nvPr/>
        </p:nvSpPr>
        <p:spPr>
          <a:xfrm>
            <a:off x="661475" y="4035822"/>
            <a:ext cx="5302018" cy="169466"/>
          </a:xfrm>
          <a:prstGeom prst="rect">
            <a:avLst/>
          </a:prstGeom>
          <a:noFill/>
          <a:ln/>
        </p:spPr>
        <p:txBody>
          <a:bodyPr wrap="none" lIns="0" tIns="0" rIns="0" bIns="0" rtlCol="0" anchor="t"/>
          <a:lstStyle/>
          <a:p>
            <a:pPr marL="0" indent="0" algn="l">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Q1: Are low ratings driven by cleanliness, value for money, or communication?</a:t>
            </a:r>
            <a:endParaRPr lang="en-US" sz="1050" dirty="0"/>
          </a:p>
        </p:txBody>
      </p:sp>
      <p:sp>
        <p:nvSpPr>
          <p:cNvPr id="5" name="Text 2"/>
          <p:cNvSpPr/>
          <p:nvPr/>
        </p:nvSpPr>
        <p:spPr>
          <a:xfrm>
            <a:off x="661475" y="4276427"/>
            <a:ext cx="5302018" cy="431304"/>
          </a:xfrm>
          <a:prstGeom prst="rect">
            <a:avLst/>
          </a:prstGeom>
          <a:noFill/>
          <a:ln/>
        </p:spPr>
        <p:txBody>
          <a:bodyPr wrap="square" lIns="0" tIns="0" rIns="0" bIns="0" rtlCol="0" anchor="t">
            <a:normAutofit/>
          </a:bodyPr>
          <a:lstStyle/>
          <a:p>
            <a:pPr marL="0" indent="0" algn="l">
              <a:lnSpc>
                <a:spcPct val="110000"/>
              </a:lnSpc>
              <a:buNone/>
            </a:pPr>
            <a:r>
              <a:rPr lang="en-US" sz="850" dirty="0">
                <a:solidFill>
                  <a:srgbClr val="403C4E"/>
                </a:solidFill>
                <a:latin typeface="Open Sans" pitchFamily="34" charset="0"/>
                <a:ea typeface="Open Sans" pitchFamily="34" charset="-122"/>
                <a:cs typeface="Open Sans" pitchFamily="34" charset="-120"/>
              </a:rPr>
              <a:t>The Detailed Ratings view shows that most cities score above </a:t>
            </a:r>
            <a:r>
              <a:rPr lang="en-US" sz="850" b="1" dirty="0">
                <a:solidFill>
                  <a:srgbClr val="403C4E"/>
                </a:solidFill>
                <a:latin typeface="Open Sans Bold" pitchFamily="34" charset="0"/>
                <a:ea typeface="Open Sans Bold" pitchFamily="34" charset="-122"/>
                <a:cs typeface="Open Sans Bold" pitchFamily="34" charset="-120"/>
              </a:rPr>
              <a:t>9.0</a:t>
            </a:r>
            <a:r>
              <a:rPr lang="en-US" sz="850" dirty="0">
                <a:solidFill>
                  <a:srgbClr val="403C4E"/>
                </a:solidFill>
                <a:latin typeface="Open Sans" pitchFamily="34" charset="0"/>
                <a:ea typeface="Open Sans" pitchFamily="34" charset="-122"/>
                <a:cs typeface="Open Sans" pitchFamily="34" charset="-120"/>
              </a:rPr>
              <a:t> across all five dimensions, so there is no single major breakdown. In weaker cities, the softer spots seem to be </a:t>
            </a:r>
            <a:r>
              <a:rPr lang="en-US" sz="850" b="1" dirty="0">
                <a:solidFill>
                  <a:srgbClr val="403C4E"/>
                </a:solidFill>
                <a:latin typeface="Open Sans Bold" pitchFamily="34" charset="0"/>
                <a:ea typeface="Open Sans Bold" pitchFamily="34" charset="-122"/>
                <a:cs typeface="Open Sans Bold" pitchFamily="34" charset="-120"/>
              </a:rPr>
              <a:t>cleanliness</a:t>
            </a:r>
            <a:r>
              <a:rPr lang="en-US" sz="850" dirty="0">
                <a:solidFill>
                  <a:srgbClr val="403C4E"/>
                </a:solidFill>
                <a:latin typeface="Open Sans" pitchFamily="34" charset="0"/>
                <a:ea typeface="Open Sans" pitchFamily="34" charset="-122"/>
                <a:cs typeface="Open Sans" pitchFamily="34" charset="-120"/>
              </a:rPr>
              <a:t> and </a:t>
            </a:r>
            <a:r>
              <a:rPr lang="en-US" sz="850" b="1" dirty="0">
                <a:solidFill>
                  <a:srgbClr val="403C4E"/>
                </a:solidFill>
                <a:latin typeface="Open Sans Bold" pitchFamily="34" charset="0"/>
                <a:ea typeface="Open Sans Bold" pitchFamily="34" charset="-122"/>
                <a:cs typeface="Open Sans Bold" pitchFamily="34" charset="-120"/>
              </a:rPr>
              <a:t>value</a:t>
            </a:r>
            <a:r>
              <a:rPr lang="en-US" sz="850" dirty="0">
                <a:solidFill>
                  <a:srgbClr val="403C4E"/>
                </a:solidFill>
                <a:latin typeface="Open Sans" pitchFamily="34" charset="0"/>
                <a:ea typeface="Open Sans" pitchFamily="34" charset="-122"/>
                <a:cs typeface="Open Sans" pitchFamily="34" charset="-120"/>
              </a:rPr>
              <a:t>, while communication remains relatively strong.</a:t>
            </a:r>
            <a:endParaRPr lang="en-US" sz="850" dirty="0"/>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2154" y="4791125"/>
            <a:ext cx="162715" cy="162719"/>
          </a:xfrm>
          <a:prstGeom prst="rect">
            <a:avLst/>
          </a:prstGeom>
        </p:spPr>
      </p:pic>
      <p:sp>
        <p:nvSpPr>
          <p:cNvPr id="7" name="Text 3"/>
          <p:cNvSpPr/>
          <p:nvPr/>
        </p:nvSpPr>
        <p:spPr>
          <a:xfrm>
            <a:off x="1014089" y="4787801"/>
            <a:ext cx="4949404" cy="169466"/>
          </a:xfrm>
          <a:prstGeom prst="rect">
            <a:avLst/>
          </a:prstGeom>
          <a:noFill/>
          <a:ln/>
        </p:spPr>
        <p:txBody>
          <a:bodyPr wrap="none" lIns="0" tIns="0" rIns="0" bIns="0" rtlCol="0" anchor="t"/>
          <a:lstStyle/>
          <a:p>
            <a:pPr marL="0" indent="0" algn="l">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Cleanliness</a:t>
            </a:r>
            <a:endParaRPr lang="en-US" sz="1050" dirty="0"/>
          </a:p>
        </p:txBody>
      </p:sp>
      <p:sp>
        <p:nvSpPr>
          <p:cNvPr id="8" name="Text 4"/>
          <p:cNvSpPr/>
          <p:nvPr/>
        </p:nvSpPr>
        <p:spPr>
          <a:xfrm>
            <a:off x="1014089" y="5028406"/>
            <a:ext cx="4949404" cy="143768"/>
          </a:xfrm>
          <a:prstGeom prst="rect">
            <a:avLst/>
          </a:prstGeom>
          <a:noFill/>
          <a:ln/>
        </p:spPr>
        <p:txBody>
          <a:bodyPr wrap="none" lIns="0" tIns="0" rIns="0" bIns="0" rtlCol="0" anchor="t"/>
          <a:lstStyle/>
          <a:p>
            <a:pPr marL="0" indent="0" algn="l">
              <a:lnSpc>
                <a:spcPct val="110000"/>
              </a:lnSpc>
              <a:buNone/>
            </a:pPr>
            <a:r>
              <a:rPr lang="en-US" sz="850" dirty="0">
                <a:solidFill>
                  <a:srgbClr val="403C4E"/>
                </a:solidFill>
                <a:latin typeface="Open Sans" pitchFamily="34" charset="0"/>
                <a:ea typeface="Open Sans" pitchFamily="34" charset="-122"/>
                <a:cs typeface="Open Sans" pitchFamily="34" charset="-120"/>
              </a:rPr>
              <a:t>Softest dimension in lower-rated cities</a:t>
            </a:r>
            <a:endParaRPr lang="en-US" sz="850" dirty="0"/>
          </a:p>
        </p:txBody>
      </p:sp>
      <p:pic>
        <p:nvPicPr>
          <p:cNvPr id="9"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2154" y="5317877"/>
            <a:ext cx="162715" cy="162719"/>
          </a:xfrm>
          <a:prstGeom prst="rect">
            <a:avLst/>
          </a:prstGeom>
        </p:spPr>
      </p:pic>
      <p:sp>
        <p:nvSpPr>
          <p:cNvPr id="10" name="Text 5"/>
          <p:cNvSpPr/>
          <p:nvPr/>
        </p:nvSpPr>
        <p:spPr>
          <a:xfrm>
            <a:off x="1014089" y="5314553"/>
            <a:ext cx="4949404" cy="169466"/>
          </a:xfrm>
          <a:prstGeom prst="rect">
            <a:avLst/>
          </a:prstGeom>
          <a:noFill/>
          <a:ln/>
        </p:spPr>
        <p:txBody>
          <a:bodyPr wrap="none" lIns="0" tIns="0" rIns="0" bIns="0" rtlCol="0" anchor="t"/>
          <a:lstStyle/>
          <a:p>
            <a:pPr marL="0" indent="0" algn="l">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Value</a:t>
            </a:r>
            <a:endParaRPr lang="en-US" sz="1050" dirty="0"/>
          </a:p>
        </p:txBody>
      </p:sp>
      <p:sp>
        <p:nvSpPr>
          <p:cNvPr id="11" name="Text 6"/>
          <p:cNvSpPr/>
          <p:nvPr/>
        </p:nvSpPr>
        <p:spPr>
          <a:xfrm>
            <a:off x="1014089" y="5555159"/>
            <a:ext cx="4949404" cy="143768"/>
          </a:xfrm>
          <a:prstGeom prst="rect">
            <a:avLst/>
          </a:prstGeom>
          <a:noFill/>
          <a:ln/>
        </p:spPr>
        <p:txBody>
          <a:bodyPr wrap="none" lIns="0" tIns="0" rIns="0" bIns="0" rtlCol="0" anchor="t"/>
          <a:lstStyle/>
          <a:p>
            <a:pPr marL="0" indent="0" algn="l">
              <a:lnSpc>
                <a:spcPct val="110000"/>
              </a:lnSpc>
              <a:buNone/>
            </a:pPr>
            <a:r>
              <a:rPr lang="en-US" sz="850" dirty="0">
                <a:solidFill>
                  <a:srgbClr val="403C4E"/>
                </a:solidFill>
                <a:latin typeface="Open Sans" pitchFamily="34" charset="0"/>
                <a:ea typeface="Open Sans" pitchFamily="34" charset="-122"/>
                <a:cs typeface="Open Sans" pitchFamily="34" charset="-120"/>
              </a:rPr>
              <a:t>Second area of relative weakness</a:t>
            </a:r>
            <a:endParaRPr lang="en-US" sz="850" dirty="0"/>
          </a:p>
        </p:txBody>
      </p:sp>
      <p:pic>
        <p:nvPicPr>
          <p:cNvPr id="12"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2154" y="5844629"/>
            <a:ext cx="162715" cy="162719"/>
          </a:xfrm>
          <a:prstGeom prst="rect">
            <a:avLst/>
          </a:prstGeom>
        </p:spPr>
      </p:pic>
      <p:sp>
        <p:nvSpPr>
          <p:cNvPr id="13" name="Text 7"/>
          <p:cNvSpPr/>
          <p:nvPr/>
        </p:nvSpPr>
        <p:spPr>
          <a:xfrm>
            <a:off x="1014089" y="5841305"/>
            <a:ext cx="4949404" cy="169466"/>
          </a:xfrm>
          <a:prstGeom prst="rect">
            <a:avLst/>
          </a:prstGeom>
          <a:noFill/>
          <a:ln/>
        </p:spPr>
        <p:txBody>
          <a:bodyPr wrap="none" lIns="0" tIns="0" rIns="0" bIns="0" rtlCol="0" anchor="t"/>
          <a:lstStyle/>
          <a:p>
            <a:pPr marL="0" indent="0" algn="l">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Communication</a:t>
            </a:r>
            <a:endParaRPr lang="en-US" sz="1050" dirty="0"/>
          </a:p>
        </p:txBody>
      </p:sp>
      <p:sp>
        <p:nvSpPr>
          <p:cNvPr id="14" name="Text 8"/>
          <p:cNvSpPr/>
          <p:nvPr/>
        </p:nvSpPr>
        <p:spPr>
          <a:xfrm>
            <a:off x="1014089" y="6081911"/>
            <a:ext cx="4949404" cy="143768"/>
          </a:xfrm>
          <a:prstGeom prst="rect">
            <a:avLst/>
          </a:prstGeom>
          <a:noFill/>
          <a:ln/>
        </p:spPr>
        <p:txBody>
          <a:bodyPr wrap="none" lIns="0" tIns="0" rIns="0" bIns="0" rtlCol="0" anchor="t"/>
          <a:lstStyle/>
          <a:p>
            <a:pPr marL="0" indent="0" algn="l">
              <a:lnSpc>
                <a:spcPct val="110000"/>
              </a:lnSpc>
              <a:buNone/>
            </a:pPr>
            <a:r>
              <a:rPr lang="en-US" sz="850" dirty="0">
                <a:solidFill>
                  <a:srgbClr val="403C4E"/>
                </a:solidFill>
                <a:latin typeface="Open Sans" pitchFamily="34" charset="0"/>
                <a:ea typeface="Open Sans" pitchFamily="34" charset="-122"/>
                <a:cs typeface="Open Sans" pitchFamily="34" charset="-120"/>
              </a:rPr>
              <a:t>Remains relatively strong across all cities</a:t>
            </a:r>
            <a:endParaRPr lang="en-US" sz="850" dirty="0"/>
          </a:p>
        </p:txBody>
      </p:sp>
      <p:sp>
        <p:nvSpPr>
          <p:cNvPr id="15" name="Shape 9"/>
          <p:cNvSpPr/>
          <p:nvPr/>
        </p:nvSpPr>
        <p:spPr>
          <a:xfrm>
            <a:off x="6156369" y="3964682"/>
            <a:ext cx="5458383" cy="2341066"/>
          </a:xfrm>
          <a:prstGeom prst="roundRect">
            <a:avLst>
              <a:gd name="adj" fmla="val 3338"/>
            </a:avLst>
          </a:prstGeom>
          <a:solidFill>
            <a:srgbClr val="FFD1CC"/>
          </a:solidFill>
          <a:ln/>
        </p:spPr>
      </p:sp>
      <p:sp>
        <p:nvSpPr>
          <p:cNvPr id="16" name="Text 10"/>
          <p:cNvSpPr/>
          <p:nvPr/>
        </p:nvSpPr>
        <p:spPr>
          <a:xfrm>
            <a:off x="6264813" y="4035822"/>
            <a:ext cx="5241496" cy="169466"/>
          </a:xfrm>
          <a:prstGeom prst="rect">
            <a:avLst/>
          </a:prstGeom>
          <a:noFill/>
          <a:ln/>
        </p:spPr>
        <p:txBody>
          <a:bodyPr wrap="none" lIns="0" tIns="0" rIns="0" bIns="0" rtlCol="0" anchor="t"/>
          <a:lstStyle/>
          <a:p>
            <a:pPr marL="0" indent="0" algn="l">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Q2: Is high supply always equal to high quality?</a:t>
            </a:r>
            <a:endParaRPr lang="en-US" sz="1050" dirty="0"/>
          </a:p>
        </p:txBody>
      </p:sp>
      <p:sp>
        <p:nvSpPr>
          <p:cNvPr id="17" name="Text 11"/>
          <p:cNvSpPr/>
          <p:nvPr/>
        </p:nvSpPr>
        <p:spPr>
          <a:xfrm>
            <a:off x="6264813" y="4276427"/>
            <a:ext cx="5241496" cy="431304"/>
          </a:xfrm>
          <a:prstGeom prst="rect">
            <a:avLst/>
          </a:prstGeom>
          <a:noFill/>
          <a:ln/>
        </p:spPr>
        <p:txBody>
          <a:bodyPr wrap="square" lIns="0" tIns="0" rIns="0" bIns="0" rtlCol="0" anchor="t">
            <a:normAutofit/>
          </a:bodyPr>
          <a:lstStyle/>
          <a:p>
            <a:pPr marL="0" indent="0" algn="l">
              <a:lnSpc>
                <a:spcPct val="110000"/>
              </a:lnSpc>
              <a:buNone/>
            </a:pPr>
            <a:r>
              <a:rPr lang="en-US" sz="850" dirty="0">
                <a:solidFill>
                  <a:srgbClr val="403C4E"/>
                </a:solidFill>
                <a:latin typeface="Open Sans" pitchFamily="34" charset="0"/>
                <a:ea typeface="Open Sans" pitchFamily="34" charset="-122"/>
                <a:cs typeface="Open Sans" pitchFamily="34" charset="-120"/>
              </a:rPr>
              <a:t>No. The supply chart and the ratings chart do not fully match. For example, </a:t>
            </a:r>
            <a:r>
              <a:rPr lang="en-US" sz="850" b="1" dirty="0">
                <a:solidFill>
                  <a:srgbClr val="403C4E"/>
                </a:solidFill>
                <a:latin typeface="Open Sans Bold" pitchFamily="34" charset="0"/>
                <a:ea typeface="Open Sans Bold" pitchFamily="34" charset="-122"/>
                <a:cs typeface="Open Sans Bold" pitchFamily="34" charset="-120"/>
              </a:rPr>
              <a:t>Paris</a:t>
            </a:r>
            <a:r>
              <a:rPr lang="en-US" sz="850" dirty="0">
                <a:solidFill>
                  <a:srgbClr val="403C4E"/>
                </a:solidFill>
                <a:latin typeface="Open Sans" pitchFamily="34" charset="0"/>
                <a:ea typeface="Open Sans" pitchFamily="34" charset="-122"/>
                <a:cs typeface="Open Sans" pitchFamily="34" charset="-120"/>
              </a:rPr>
              <a:t> is a major supply market, but </a:t>
            </a:r>
            <a:r>
              <a:rPr lang="en-US" sz="850" b="1" dirty="0">
                <a:solidFill>
                  <a:srgbClr val="403C4E"/>
                </a:solidFill>
                <a:latin typeface="Open Sans Bold" pitchFamily="34" charset="0"/>
                <a:ea typeface="Open Sans Bold" pitchFamily="34" charset="-122"/>
                <a:cs typeface="Open Sans Bold" pitchFamily="34" charset="-120"/>
              </a:rPr>
              <a:t>Mexico City</a:t>
            </a:r>
            <a:r>
              <a:rPr lang="en-US" sz="850" dirty="0">
                <a:solidFill>
                  <a:srgbClr val="403C4E"/>
                </a:solidFill>
                <a:latin typeface="Open Sans" pitchFamily="34" charset="0"/>
                <a:ea typeface="Open Sans" pitchFamily="34" charset="-122"/>
                <a:cs typeface="Open Sans" pitchFamily="34" charset="-120"/>
              </a:rPr>
              <a:t> has the best guest ratings. This shows that a city can have a large listing base without being the highest rated.</a:t>
            </a:r>
            <a:endParaRPr lang="en-US" sz="850" dirty="0"/>
          </a:p>
        </p:txBody>
      </p:sp>
      <p:sp>
        <p:nvSpPr>
          <p:cNvPr id="18" name="Text 12"/>
          <p:cNvSpPr/>
          <p:nvPr/>
        </p:nvSpPr>
        <p:spPr>
          <a:xfrm>
            <a:off x="6264813" y="4778871"/>
            <a:ext cx="5241496" cy="169466"/>
          </a:xfrm>
          <a:prstGeom prst="rect">
            <a:avLst/>
          </a:prstGeom>
          <a:noFill/>
          <a:ln/>
        </p:spPr>
        <p:txBody>
          <a:bodyPr wrap="none" lIns="0" tIns="0" rIns="0" bIns="0" rtlCol="0" anchor="t"/>
          <a:lstStyle/>
          <a:p>
            <a:pPr marL="0" indent="0" algn="l">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Observation &amp; Suggestions</a:t>
            </a:r>
            <a:endParaRPr lang="en-US" sz="1050" dirty="0"/>
          </a:p>
        </p:txBody>
      </p:sp>
      <p:sp>
        <p:nvSpPr>
          <p:cNvPr id="19" name="Text 13"/>
          <p:cNvSpPr/>
          <p:nvPr/>
        </p:nvSpPr>
        <p:spPr>
          <a:xfrm>
            <a:off x="6264813" y="5019477"/>
            <a:ext cx="5241496" cy="287536"/>
          </a:xfrm>
          <a:prstGeom prst="rect">
            <a:avLst/>
          </a:prstGeom>
          <a:noFill/>
          <a:ln/>
        </p:spPr>
        <p:txBody>
          <a:bodyPr wrap="square" lIns="0" tIns="0" rIns="0" bIns="0" rtlCol="0" anchor="t">
            <a:normAutofit/>
          </a:bodyPr>
          <a:lstStyle/>
          <a:p>
            <a:pPr marL="0" indent="0" algn="l">
              <a:lnSpc>
                <a:spcPct val="110000"/>
              </a:lnSpc>
              <a:buNone/>
            </a:pPr>
            <a:r>
              <a:rPr lang="en-US" sz="850" dirty="0">
                <a:solidFill>
                  <a:srgbClr val="403C4E"/>
                </a:solidFill>
                <a:latin typeface="Open Sans" pitchFamily="34" charset="0"/>
                <a:ea typeface="Open Sans" pitchFamily="34" charset="-122"/>
                <a:cs typeface="Open Sans" pitchFamily="34" charset="-120"/>
              </a:rPr>
              <a:t>Nestivo should not rely only on supply growth to judge success. It also needs to monitor service quality, guest satisfaction, and local operational standards.</a:t>
            </a:r>
            <a:endParaRPr lang="en-US" sz="850" dirty="0"/>
          </a:p>
        </p:txBody>
      </p:sp>
      <p:sp>
        <p:nvSpPr>
          <p:cNvPr id="20" name="Shape 14"/>
          <p:cNvSpPr/>
          <p:nvPr/>
        </p:nvSpPr>
        <p:spPr>
          <a:xfrm>
            <a:off x="6264813" y="5387082"/>
            <a:ext cx="5241496" cy="613966"/>
          </a:xfrm>
          <a:prstGeom prst="roundRect">
            <a:avLst>
              <a:gd name="adj" fmla="val 7425"/>
            </a:avLst>
          </a:prstGeom>
          <a:solidFill>
            <a:srgbClr val="FFD8CC"/>
          </a:solidFill>
          <a:ln w="6350">
            <a:solidFill>
              <a:srgbClr val="E5BEB2"/>
            </a:solidFill>
            <a:prstDash val="solid"/>
          </a:ln>
        </p:spPr>
      </p:sp>
      <p:sp>
        <p:nvSpPr>
          <p:cNvPr id="21" name="Shape 15"/>
          <p:cNvSpPr/>
          <p:nvPr/>
        </p:nvSpPr>
        <p:spPr>
          <a:xfrm>
            <a:off x="6271163" y="5393432"/>
            <a:ext cx="2614349" cy="601266"/>
          </a:xfrm>
          <a:custGeom>
            <a:avLst/>
            <a:gdLst/>
            <a:ahLst/>
            <a:cxnLst/>
            <a:rect l="l" t="t" r="r" b="b"/>
            <a:pathLst>
              <a:path w="2614349" h="601266">
                <a:moveTo>
                  <a:pt x="37988" y="0"/>
                </a:moveTo>
                <a:lnTo>
                  <a:pt x="2614349" y="0"/>
                </a:lnTo>
                <a:lnTo>
                  <a:pt x="2614349" y="601266"/>
                </a:lnTo>
                <a:lnTo>
                  <a:pt x="37988" y="601266"/>
                </a:lnTo>
                <a:arcTo wR="37988" hR="37989" stAng="5400000" swAng="5400000"/>
                <a:lnTo>
                  <a:pt x="0" y="37989"/>
                </a:lnTo>
                <a:arcTo wR="37988" hR="37989" stAng="10800000" swAng="5400000"/>
                <a:close/>
              </a:path>
            </a:pathLst>
          </a:custGeom>
          <a:solidFill>
            <a:srgbClr val="FFD8CC"/>
          </a:solidFill>
          <a:ln/>
        </p:spPr>
      </p:sp>
      <p:sp>
        <p:nvSpPr>
          <p:cNvPr id="22" name="Text 16"/>
          <p:cNvSpPr/>
          <p:nvPr/>
        </p:nvSpPr>
        <p:spPr>
          <a:xfrm>
            <a:off x="6379606" y="5501878"/>
            <a:ext cx="2397462" cy="169466"/>
          </a:xfrm>
          <a:prstGeom prst="rect">
            <a:avLst/>
          </a:prstGeom>
          <a:noFill/>
          <a:ln/>
        </p:spPr>
        <p:txBody>
          <a:bodyPr wrap="none" lIns="0" tIns="0" rIns="0" bIns="0" rtlCol="0" anchor="t"/>
          <a:lstStyle/>
          <a:p>
            <a:pPr marL="0" indent="0" algn="l">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Paris</a:t>
            </a:r>
            <a:endParaRPr lang="en-US" sz="1050" dirty="0"/>
          </a:p>
        </p:txBody>
      </p:sp>
      <p:sp>
        <p:nvSpPr>
          <p:cNvPr id="23" name="Text 17"/>
          <p:cNvSpPr/>
          <p:nvPr/>
        </p:nvSpPr>
        <p:spPr>
          <a:xfrm>
            <a:off x="6379606" y="5742484"/>
            <a:ext cx="2397462" cy="143768"/>
          </a:xfrm>
          <a:prstGeom prst="rect">
            <a:avLst/>
          </a:prstGeom>
          <a:noFill/>
          <a:ln/>
        </p:spPr>
        <p:txBody>
          <a:bodyPr wrap="none" lIns="0" tIns="0" rIns="0" bIns="0" rtlCol="0" anchor="t"/>
          <a:lstStyle/>
          <a:p>
            <a:pPr marL="0" indent="0" algn="l">
              <a:lnSpc>
                <a:spcPct val="110000"/>
              </a:lnSpc>
              <a:buNone/>
            </a:pPr>
            <a:r>
              <a:rPr lang="en-US" sz="850" dirty="0">
                <a:solidFill>
                  <a:srgbClr val="403C4E"/>
                </a:solidFill>
                <a:latin typeface="Open Sans" pitchFamily="34" charset="0"/>
                <a:ea typeface="Open Sans" pitchFamily="34" charset="-122"/>
                <a:cs typeface="Open Sans" pitchFamily="34" charset="-120"/>
              </a:rPr>
              <a:t>#1 in supply</a:t>
            </a:r>
            <a:endParaRPr lang="en-US" sz="850" dirty="0"/>
          </a:p>
        </p:txBody>
      </p:sp>
      <p:sp>
        <p:nvSpPr>
          <p:cNvPr id="24" name="Shape 18"/>
          <p:cNvSpPr/>
          <p:nvPr/>
        </p:nvSpPr>
        <p:spPr>
          <a:xfrm>
            <a:off x="8885511" y="5393432"/>
            <a:ext cx="2614448" cy="601266"/>
          </a:xfrm>
          <a:custGeom>
            <a:avLst/>
            <a:gdLst/>
            <a:ahLst/>
            <a:cxnLst/>
            <a:rect l="l" t="t" r="r" b="b"/>
            <a:pathLst>
              <a:path w="2614448" h="601266">
                <a:moveTo>
                  <a:pt x="0" y="0"/>
                </a:moveTo>
                <a:lnTo>
                  <a:pt x="2576460" y="0"/>
                </a:lnTo>
                <a:arcTo wR="37988" hR="37989" stAng="16200000" swAng="5400000"/>
                <a:lnTo>
                  <a:pt x="2614448" y="563276"/>
                </a:lnTo>
                <a:arcTo wR="37988" hR="37989" stAng="0" swAng="5400000"/>
                <a:lnTo>
                  <a:pt x="0" y="601266"/>
                </a:lnTo>
                <a:lnTo>
                  <a:pt x="0" y="0"/>
                </a:lnTo>
                <a:close/>
              </a:path>
            </a:pathLst>
          </a:custGeom>
          <a:solidFill>
            <a:srgbClr val="FFD8CC"/>
          </a:solidFill>
          <a:ln/>
        </p:spPr>
      </p:sp>
      <p:sp>
        <p:nvSpPr>
          <p:cNvPr id="25" name="Shape 19"/>
          <p:cNvSpPr/>
          <p:nvPr/>
        </p:nvSpPr>
        <p:spPr>
          <a:xfrm>
            <a:off x="8885511" y="5393432"/>
            <a:ext cx="12700" cy="601266"/>
          </a:xfrm>
          <a:prstGeom prst="roundRect">
            <a:avLst>
              <a:gd name="adj" fmla="val 49999"/>
            </a:avLst>
          </a:prstGeom>
          <a:solidFill>
            <a:srgbClr val="E5BEB2"/>
          </a:solidFill>
          <a:ln/>
        </p:spPr>
      </p:sp>
      <p:sp>
        <p:nvSpPr>
          <p:cNvPr id="26" name="Text 20"/>
          <p:cNvSpPr/>
          <p:nvPr/>
        </p:nvSpPr>
        <p:spPr>
          <a:xfrm>
            <a:off x="8993955" y="5501878"/>
            <a:ext cx="2397561" cy="169466"/>
          </a:xfrm>
          <a:prstGeom prst="rect">
            <a:avLst/>
          </a:prstGeom>
          <a:noFill/>
          <a:ln/>
        </p:spPr>
        <p:txBody>
          <a:bodyPr wrap="none" lIns="0" tIns="0" rIns="0" bIns="0" rtlCol="0" anchor="t"/>
          <a:lstStyle/>
          <a:p>
            <a:pPr marL="0" indent="0" algn="l">
              <a:lnSpc>
                <a:spcPct val="104000"/>
              </a:lnSpc>
              <a:buNone/>
            </a:pPr>
            <a:r>
              <a:rPr lang="en-US" sz="1050" b="1" dirty="0">
                <a:solidFill>
                  <a:srgbClr val="403C4E"/>
                </a:solidFill>
                <a:latin typeface="Merriweather Bold" pitchFamily="34" charset="0"/>
                <a:ea typeface="Merriweather Bold" pitchFamily="34" charset="-122"/>
                <a:cs typeface="Merriweather Bold" pitchFamily="34" charset="-120"/>
              </a:rPr>
              <a:t>Mexico City</a:t>
            </a:r>
            <a:endParaRPr lang="en-US" sz="1050" dirty="0"/>
          </a:p>
        </p:txBody>
      </p:sp>
      <p:sp>
        <p:nvSpPr>
          <p:cNvPr id="27" name="Text 21"/>
          <p:cNvSpPr/>
          <p:nvPr/>
        </p:nvSpPr>
        <p:spPr>
          <a:xfrm>
            <a:off x="8993955" y="5742484"/>
            <a:ext cx="2397561" cy="143768"/>
          </a:xfrm>
          <a:prstGeom prst="rect">
            <a:avLst/>
          </a:prstGeom>
          <a:noFill/>
          <a:ln/>
        </p:spPr>
        <p:txBody>
          <a:bodyPr wrap="none" lIns="0" tIns="0" rIns="0" bIns="0" rtlCol="0" anchor="t"/>
          <a:lstStyle/>
          <a:p>
            <a:pPr marL="0" indent="0" algn="l">
              <a:lnSpc>
                <a:spcPct val="110000"/>
              </a:lnSpc>
              <a:buNone/>
            </a:pPr>
            <a:r>
              <a:rPr lang="en-US" sz="850" dirty="0">
                <a:solidFill>
                  <a:srgbClr val="403C4E"/>
                </a:solidFill>
                <a:latin typeface="Open Sans" pitchFamily="34" charset="0"/>
                <a:ea typeface="Open Sans" pitchFamily="34" charset="-122"/>
                <a:cs typeface="Open Sans" pitchFamily="34" charset="-120"/>
              </a:rPr>
              <a:t>#1 in ratings</a:t>
            </a:r>
            <a:endParaRPr lang="en-US" sz="850" dirty="0"/>
          </a:p>
        </p:txBody>
      </p:sp>
      <p:sp>
        <p:nvSpPr>
          <p:cNvPr id="28" name="Rectangle 27">
            <a:extLst>
              <a:ext uri="{FF2B5EF4-FFF2-40B4-BE49-F238E27FC236}">
                <a16:creationId xmlns:a16="http://schemas.microsoft.com/office/drawing/2014/main" id="{77B16311-2582-4750-45D3-A6290FECAFC0}"/>
              </a:ext>
            </a:extLst>
          </p:cNvPr>
          <p:cNvSpPr/>
          <p:nvPr/>
        </p:nvSpPr>
        <p:spPr>
          <a:xfrm>
            <a:off x="11052202" y="6521573"/>
            <a:ext cx="1106752" cy="31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474365"/>
            <a:ext cx="10868745" cy="411857"/>
          </a:xfrm>
          <a:prstGeom prst="rect">
            <a:avLst/>
          </a:prstGeom>
          <a:noFill/>
          <a:ln/>
        </p:spPr>
        <p:txBody>
          <a:bodyPr wrap="none" lIns="0" tIns="0" rIns="0" bIns="0" rtlCol="0" anchor="t"/>
          <a:lstStyle/>
          <a:p>
            <a:pPr marL="0" indent="0" algn="l">
              <a:lnSpc>
                <a:spcPct val="104000"/>
              </a:lnSpc>
              <a:buNone/>
            </a:pPr>
            <a:r>
              <a:rPr lang="en-US" sz="2550" b="1" dirty="0">
                <a:solidFill>
                  <a:srgbClr val="403C4E"/>
                </a:solidFill>
                <a:latin typeface="Merriweather Bold" pitchFamily="34" charset="0"/>
                <a:ea typeface="Merriweather Bold" pitchFamily="34" charset="-122"/>
                <a:cs typeface="Merriweather Bold" pitchFamily="34" charset="-120"/>
              </a:rPr>
              <a:t>City-Level Performance and Seasonal Patterns</a:t>
            </a:r>
            <a:endParaRPr lang="en-US" sz="2550" dirty="0"/>
          </a:p>
        </p:txBody>
      </p:sp>
      <p:pic>
        <p:nvPicPr>
          <p:cNvPr id="3" name="Image 0" descr="preencoded.png"/>
          <p:cNvPicPr>
            <a:picLocks noChangeAspect="1"/>
          </p:cNvPicPr>
          <p:nvPr/>
        </p:nvPicPr>
        <p:blipFill>
          <a:blip r:embed="rId3"/>
          <a:stretch>
            <a:fillRect/>
          </a:stretch>
        </p:blipFill>
        <p:spPr>
          <a:xfrm>
            <a:off x="832226" y="1096268"/>
            <a:ext cx="10527144" cy="2273498"/>
          </a:xfrm>
          <a:prstGeom prst="rect">
            <a:avLst/>
          </a:prstGeom>
        </p:spPr>
      </p:pic>
      <p:sp>
        <p:nvSpPr>
          <p:cNvPr id="4" name="Text 1"/>
          <p:cNvSpPr/>
          <p:nvPr/>
        </p:nvSpPr>
        <p:spPr>
          <a:xfrm>
            <a:off x="661475" y="3592810"/>
            <a:ext cx="5273642" cy="205879"/>
          </a:xfrm>
          <a:prstGeom prst="rect">
            <a:avLst/>
          </a:prstGeom>
          <a:noFill/>
          <a:ln/>
        </p:spPr>
        <p:txBody>
          <a:bodyPr wrap="none" lIns="0" tIns="0" rIns="0" bIns="0" rtlCol="0" anchor="t"/>
          <a:lstStyle/>
          <a:p>
            <a:pPr marL="0" indent="0" algn="l">
              <a:lnSpc>
                <a:spcPct val="104000"/>
              </a:lnSpc>
              <a:buNone/>
            </a:pPr>
            <a:r>
              <a:rPr lang="en-US" sz="1250" b="1" dirty="0">
                <a:solidFill>
                  <a:srgbClr val="403C4E"/>
                </a:solidFill>
                <a:latin typeface="Merriweather Bold" pitchFamily="34" charset="0"/>
                <a:ea typeface="Merriweather Bold" pitchFamily="34" charset="-122"/>
                <a:cs typeface="Merriweather Bold" pitchFamily="34" charset="-120"/>
              </a:rPr>
              <a:t>Q1: Which cities peak during which months?</a:t>
            </a:r>
            <a:endParaRPr lang="en-US" sz="1250" dirty="0"/>
          </a:p>
        </p:txBody>
      </p:sp>
      <p:sp>
        <p:nvSpPr>
          <p:cNvPr id="5" name="Text 2"/>
          <p:cNvSpPr/>
          <p:nvPr/>
        </p:nvSpPr>
        <p:spPr>
          <a:xfrm>
            <a:off x="661475" y="3903663"/>
            <a:ext cx="5273642" cy="568226"/>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03C4E"/>
                </a:solidFill>
                <a:latin typeface="Open Sans" pitchFamily="34" charset="0"/>
                <a:ea typeface="Open Sans" pitchFamily="34" charset="-122"/>
                <a:cs typeface="Open Sans" pitchFamily="34" charset="-120"/>
              </a:rPr>
              <a:t>The review seasonality chart shows that the top cities do not peak at the same time. Each city follows its own monthly pattern, which means demand changes by location rather than moving in one universal pattern.</a:t>
            </a:r>
            <a:endParaRPr lang="en-US" sz="1000" dirty="0"/>
          </a:p>
        </p:txBody>
      </p:sp>
      <p:sp>
        <p:nvSpPr>
          <p:cNvPr id="6" name="Shape 3"/>
          <p:cNvSpPr/>
          <p:nvPr/>
        </p:nvSpPr>
        <p:spPr>
          <a:xfrm>
            <a:off x="661475" y="4589959"/>
            <a:ext cx="5273642" cy="633611"/>
          </a:xfrm>
          <a:prstGeom prst="roundRect">
            <a:avLst>
              <a:gd name="adj" fmla="val 8736"/>
            </a:avLst>
          </a:prstGeom>
          <a:solidFill>
            <a:srgbClr val="FFD8CC"/>
          </a:solidFill>
          <a:ln/>
        </p:spPr>
      </p:sp>
      <p:pic>
        <p:nvPicPr>
          <p:cNvPr id="7" name="Image 1" descr="preencoded.png"/>
          <p:cNvPicPr>
            <a:picLocks noChangeAspect="1"/>
          </p:cNvPicPr>
          <p:nvPr/>
        </p:nvPicPr>
        <p:blipFill>
          <a:blip r:embed="rId4"/>
          <a:stretch>
            <a:fillRect/>
          </a:stretch>
        </p:blipFill>
        <p:spPr>
          <a:xfrm>
            <a:off x="793234" y="4752280"/>
            <a:ext cx="164699" cy="131763"/>
          </a:xfrm>
          <a:prstGeom prst="rect">
            <a:avLst/>
          </a:prstGeom>
        </p:spPr>
      </p:pic>
      <p:sp>
        <p:nvSpPr>
          <p:cNvPr id="8" name="Text 4"/>
          <p:cNvSpPr/>
          <p:nvPr/>
        </p:nvSpPr>
        <p:spPr>
          <a:xfrm>
            <a:off x="1089692" y="4717355"/>
            <a:ext cx="4713666" cy="378817"/>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000000"/>
                </a:solidFill>
                <a:latin typeface="Open Sans" pitchFamily="34" charset="0"/>
                <a:ea typeface="Open Sans" pitchFamily="34" charset="-122"/>
                <a:cs typeface="Open Sans" pitchFamily="34" charset="-120"/>
              </a:rPr>
              <a:t>City-specific seasonality means that a single global promotional calendar will not be effective. Local planning is essential.</a:t>
            </a:r>
            <a:endParaRPr lang="en-US" sz="1000" dirty="0"/>
          </a:p>
        </p:txBody>
      </p:sp>
      <p:sp>
        <p:nvSpPr>
          <p:cNvPr id="9" name="Text 5"/>
          <p:cNvSpPr/>
          <p:nvPr/>
        </p:nvSpPr>
        <p:spPr>
          <a:xfrm>
            <a:off x="6262928" y="3592810"/>
            <a:ext cx="5273642" cy="411758"/>
          </a:xfrm>
          <a:prstGeom prst="rect">
            <a:avLst/>
          </a:prstGeom>
          <a:noFill/>
          <a:ln/>
        </p:spPr>
        <p:txBody>
          <a:bodyPr wrap="square" lIns="0" tIns="0" rIns="0" bIns="0" rtlCol="0" anchor="t">
            <a:normAutofit/>
          </a:bodyPr>
          <a:lstStyle/>
          <a:p>
            <a:pPr marL="0" indent="0" algn="l">
              <a:lnSpc>
                <a:spcPct val="104000"/>
              </a:lnSpc>
              <a:buNone/>
            </a:pPr>
            <a:r>
              <a:rPr lang="en-US" sz="1250" b="1" dirty="0">
                <a:solidFill>
                  <a:srgbClr val="403C4E"/>
                </a:solidFill>
                <a:latin typeface="Merriweather Bold" pitchFamily="34" charset="0"/>
                <a:ea typeface="Merriweather Bold" pitchFamily="34" charset="-122"/>
                <a:cs typeface="Merriweather Bold" pitchFamily="34" charset="-120"/>
              </a:rPr>
              <a:t>Q2: Do European cities behave differently from non-European cities?</a:t>
            </a:r>
            <a:endParaRPr lang="en-US" sz="1250" dirty="0"/>
          </a:p>
        </p:txBody>
      </p:sp>
      <p:sp>
        <p:nvSpPr>
          <p:cNvPr id="10" name="Text 6"/>
          <p:cNvSpPr/>
          <p:nvPr/>
        </p:nvSpPr>
        <p:spPr>
          <a:xfrm>
            <a:off x="6262928" y="4109541"/>
            <a:ext cx="5273642" cy="568226"/>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03C4E"/>
                </a:solidFill>
                <a:latin typeface="Open Sans" pitchFamily="34" charset="0"/>
                <a:ea typeface="Open Sans" pitchFamily="34" charset="-122"/>
                <a:cs typeface="Open Sans" pitchFamily="34" charset="-120"/>
              </a:rPr>
              <a:t>Yes. The monthly patterns show that city behavior is not identical across regions. European and non-European cities have different seasonality patterns, which means Nestivo should use local planning instead of a one-size-fits-all approach.</a:t>
            </a:r>
            <a:endParaRPr lang="en-US" sz="1000" dirty="0"/>
          </a:p>
        </p:txBody>
      </p:sp>
      <p:sp>
        <p:nvSpPr>
          <p:cNvPr id="11" name="Shape 7"/>
          <p:cNvSpPr/>
          <p:nvPr/>
        </p:nvSpPr>
        <p:spPr>
          <a:xfrm>
            <a:off x="661475" y="5459710"/>
            <a:ext cx="3552935" cy="923925"/>
          </a:xfrm>
          <a:prstGeom prst="roundRect">
            <a:avLst>
              <a:gd name="adj" fmla="val 5991"/>
            </a:avLst>
          </a:prstGeom>
          <a:solidFill>
            <a:srgbClr val="FFD8CC"/>
          </a:solidFill>
          <a:ln w="6350">
            <a:solidFill>
              <a:srgbClr val="E5BEB2"/>
            </a:solidFill>
            <a:prstDash val="solid"/>
          </a:ln>
        </p:spPr>
      </p:sp>
      <p:sp>
        <p:nvSpPr>
          <p:cNvPr id="12" name="Text 8"/>
          <p:cNvSpPr/>
          <p:nvPr/>
        </p:nvSpPr>
        <p:spPr>
          <a:xfrm>
            <a:off x="799584" y="5597823"/>
            <a:ext cx="3276716" cy="205879"/>
          </a:xfrm>
          <a:prstGeom prst="rect">
            <a:avLst/>
          </a:prstGeom>
          <a:noFill/>
          <a:ln/>
        </p:spPr>
        <p:txBody>
          <a:bodyPr wrap="none" lIns="0" tIns="0" rIns="0" bIns="0" rtlCol="0" anchor="t"/>
          <a:lstStyle/>
          <a:p>
            <a:pPr marL="0" indent="0" algn="l">
              <a:lnSpc>
                <a:spcPct val="104000"/>
              </a:lnSpc>
              <a:buNone/>
            </a:pPr>
            <a:r>
              <a:rPr lang="en-US" sz="1250" b="1" dirty="0">
                <a:solidFill>
                  <a:srgbClr val="403C4E"/>
                </a:solidFill>
                <a:latin typeface="Merriweather Bold" pitchFamily="34" charset="0"/>
                <a:ea typeface="Merriweather Bold" pitchFamily="34" charset="-122"/>
                <a:cs typeface="Merriweather Bold" pitchFamily="34" charset="-120"/>
              </a:rPr>
              <a:t>European Cities</a:t>
            </a:r>
            <a:endParaRPr lang="en-US" sz="1250" dirty="0"/>
          </a:p>
        </p:txBody>
      </p:sp>
      <p:sp>
        <p:nvSpPr>
          <p:cNvPr id="13" name="Text 9"/>
          <p:cNvSpPr/>
          <p:nvPr/>
        </p:nvSpPr>
        <p:spPr>
          <a:xfrm>
            <a:off x="799584" y="5866705"/>
            <a:ext cx="3276716" cy="378817"/>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03C4E"/>
                </a:solidFill>
                <a:latin typeface="Open Sans" pitchFamily="34" charset="0"/>
                <a:ea typeface="Open Sans" pitchFamily="34" charset="-122"/>
                <a:cs typeface="Open Sans" pitchFamily="34" charset="-120"/>
              </a:rPr>
              <a:t>Distinct seasonal peaks driven by summer tourism and holiday travel patterns</a:t>
            </a:r>
            <a:endParaRPr lang="en-US" sz="1000" dirty="0"/>
          </a:p>
        </p:txBody>
      </p:sp>
      <p:sp>
        <p:nvSpPr>
          <p:cNvPr id="14" name="Shape 10"/>
          <p:cNvSpPr/>
          <p:nvPr/>
        </p:nvSpPr>
        <p:spPr>
          <a:xfrm>
            <a:off x="4319380" y="5459710"/>
            <a:ext cx="3552935" cy="923925"/>
          </a:xfrm>
          <a:prstGeom prst="roundRect">
            <a:avLst>
              <a:gd name="adj" fmla="val 5991"/>
            </a:avLst>
          </a:prstGeom>
          <a:solidFill>
            <a:srgbClr val="FFD8CC"/>
          </a:solidFill>
          <a:ln w="6350">
            <a:solidFill>
              <a:srgbClr val="E5BEB2"/>
            </a:solidFill>
            <a:prstDash val="solid"/>
          </a:ln>
        </p:spPr>
      </p:sp>
      <p:sp>
        <p:nvSpPr>
          <p:cNvPr id="15" name="Text 11"/>
          <p:cNvSpPr/>
          <p:nvPr/>
        </p:nvSpPr>
        <p:spPr>
          <a:xfrm>
            <a:off x="4457489" y="5597823"/>
            <a:ext cx="3276716" cy="205879"/>
          </a:xfrm>
          <a:prstGeom prst="rect">
            <a:avLst/>
          </a:prstGeom>
          <a:noFill/>
          <a:ln/>
        </p:spPr>
        <p:txBody>
          <a:bodyPr wrap="none" lIns="0" tIns="0" rIns="0" bIns="0" rtlCol="0" anchor="t"/>
          <a:lstStyle/>
          <a:p>
            <a:pPr marL="0" indent="0" algn="l">
              <a:lnSpc>
                <a:spcPct val="104000"/>
              </a:lnSpc>
              <a:buNone/>
            </a:pPr>
            <a:r>
              <a:rPr lang="en-US" sz="1250" b="1" dirty="0">
                <a:solidFill>
                  <a:srgbClr val="403C4E"/>
                </a:solidFill>
                <a:latin typeface="Merriweather Bold" pitchFamily="34" charset="0"/>
                <a:ea typeface="Merriweather Bold" pitchFamily="34" charset="-122"/>
                <a:cs typeface="Merriweather Bold" pitchFamily="34" charset="-120"/>
              </a:rPr>
              <a:t>Non-European Cities</a:t>
            </a:r>
            <a:endParaRPr lang="en-US" sz="1250" dirty="0"/>
          </a:p>
        </p:txBody>
      </p:sp>
      <p:sp>
        <p:nvSpPr>
          <p:cNvPr id="16" name="Text 12"/>
          <p:cNvSpPr/>
          <p:nvPr/>
        </p:nvSpPr>
        <p:spPr>
          <a:xfrm>
            <a:off x="4457489" y="5866705"/>
            <a:ext cx="3276716" cy="378817"/>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03C4E"/>
                </a:solidFill>
                <a:latin typeface="Open Sans" pitchFamily="34" charset="0"/>
                <a:ea typeface="Open Sans" pitchFamily="34" charset="-122"/>
                <a:cs typeface="Open Sans" pitchFamily="34" charset="-120"/>
              </a:rPr>
              <a:t>Different monthly rhythms reflecting local climate, culture, and travel demand</a:t>
            </a:r>
            <a:endParaRPr lang="en-US" sz="1000" dirty="0"/>
          </a:p>
        </p:txBody>
      </p:sp>
      <p:sp>
        <p:nvSpPr>
          <p:cNvPr id="17" name="Shape 13"/>
          <p:cNvSpPr/>
          <p:nvPr/>
        </p:nvSpPr>
        <p:spPr>
          <a:xfrm>
            <a:off x="7977286" y="5459710"/>
            <a:ext cx="3552935" cy="923925"/>
          </a:xfrm>
          <a:prstGeom prst="roundRect">
            <a:avLst>
              <a:gd name="adj" fmla="val 5991"/>
            </a:avLst>
          </a:prstGeom>
          <a:solidFill>
            <a:srgbClr val="FFD8CC"/>
          </a:solidFill>
          <a:ln w="6350">
            <a:solidFill>
              <a:srgbClr val="E5BEB2"/>
            </a:solidFill>
            <a:prstDash val="solid"/>
          </a:ln>
        </p:spPr>
      </p:sp>
      <p:sp>
        <p:nvSpPr>
          <p:cNvPr id="18" name="Text 14"/>
          <p:cNvSpPr/>
          <p:nvPr/>
        </p:nvSpPr>
        <p:spPr>
          <a:xfrm>
            <a:off x="8115395" y="5597823"/>
            <a:ext cx="3276716" cy="205879"/>
          </a:xfrm>
          <a:prstGeom prst="rect">
            <a:avLst/>
          </a:prstGeom>
          <a:noFill/>
          <a:ln/>
        </p:spPr>
        <p:txBody>
          <a:bodyPr wrap="none" lIns="0" tIns="0" rIns="0" bIns="0" rtlCol="0" anchor="t"/>
          <a:lstStyle/>
          <a:p>
            <a:pPr marL="0" indent="0" algn="l">
              <a:lnSpc>
                <a:spcPct val="104000"/>
              </a:lnSpc>
              <a:buNone/>
            </a:pPr>
            <a:r>
              <a:rPr lang="en-US" sz="1250" b="1" dirty="0">
                <a:solidFill>
                  <a:srgbClr val="403C4E"/>
                </a:solidFill>
                <a:latin typeface="Merriweather Bold" pitchFamily="34" charset="0"/>
                <a:ea typeface="Merriweather Bold" pitchFamily="34" charset="-122"/>
                <a:cs typeface="Merriweather Bold" pitchFamily="34" charset="-120"/>
              </a:rPr>
              <a:t>Strategic Implication</a:t>
            </a:r>
            <a:endParaRPr lang="en-US" sz="1250" dirty="0"/>
          </a:p>
        </p:txBody>
      </p:sp>
      <p:sp>
        <p:nvSpPr>
          <p:cNvPr id="19" name="Text 15"/>
          <p:cNvSpPr/>
          <p:nvPr/>
        </p:nvSpPr>
        <p:spPr>
          <a:xfrm>
            <a:off x="8115395" y="5866705"/>
            <a:ext cx="3276716" cy="378817"/>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403C4E"/>
                </a:solidFill>
                <a:latin typeface="Open Sans" pitchFamily="34" charset="0"/>
                <a:ea typeface="Open Sans" pitchFamily="34" charset="-122"/>
                <a:cs typeface="Open Sans" pitchFamily="34" charset="-120"/>
              </a:rPr>
              <a:t>Local planning over global campaigns — each city requires its own demand strategy</a:t>
            </a:r>
            <a:endParaRPr lang="en-US" sz="1000" dirty="0"/>
          </a:p>
        </p:txBody>
      </p:sp>
      <p:sp>
        <p:nvSpPr>
          <p:cNvPr id="20" name="Rectangle 19">
            <a:extLst>
              <a:ext uri="{FF2B5EF4-FFF2-40B4-BE49-F238E27FC236}">
                <a16:creationId xmlns:a16="http://schemas.microsoft.com/office/drawing/2014/main" id="{C1D50D65-644C-2C21-C2FE-41476D61CB7D}"/>
              </a:ext>
            </a:extLst>
          </p:cNvPr>
          <p:cNvSpPr/>
          <p:nvPr/>
        </p:nvSpPr>
        <p:spPr>
          <a:xfrm>
            <a:off x="11052202" y="6521573"/>
            <a:ext cx="1106752" cy="31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06413"/>
            <a:ext cx="10868745" cy="395684"/>
          </a:xfrm>
          <a:prstGeom prst="rect">
            <a:avLst/>
          </a:prstGeom>
          <a:noFill/>
          <a:ln/>
        </p:spPr>
        <p:txBody>
          <a:bodyPr wrap="none" lIns="0" tIns="0" rIns="0" bIns="0" rtlCol="0" anchor="t"/>
          <a:lstStyle/>
          <a:p>
            <a:pPr marL="0" indent="0" algn="l">
              <a:lnSpc>
                <a:spcPct val="104000"/>
              </a:lnSpc>
              <a:buNone/>
            </a:pPr>
            <a:r>
              <a:rPr lang="en-US" sz="2450" b="1" dirty="0">
                <a:solidFill>
                  <a:srgbClr val="403C4E"/>
                </a:solidFill>
                <a:latin typeface="Merriweather Bold" pitchFamily="34" charset="0"/>
                <a:ea typeface="Merriweather Bold" pitchFamily="34" charset="-122"/>
                <a:cs typeface="Merriweather Bold" pitchFamily="34" charset="-120"/>
              </a:rPr>
              <a:t>Host Trust Overview</a:t>
            </a:r>
            <a:endParaRPr lang="en-US" sz="2450" dirty="0"/>
          </a:p>
        </p:txBody>
      </p:sp>
      <p:pic>
        <p:nvPicPr>
          <p:cNvPr id="3" name="Image 0" descr="preencoded.png"/>
          <p:cNvPicPr>
            <a:picLocks noChangeAspect="1"/>
          </p:cNvPicPr>
          <p:nvPr/>
        </p:nvPicPr>
        <p:blipFill>
          <a:blip r:embed="rId3"/>
          <a:stretch>
            <a:fillRect/>
          </a:stretch>
        </p:blipFill>
        <p:spPr>
          <a:xfrm>
            <a:off x="661475" y="1156494"/>
            <a:ext cx="4003773" cy="3057624"/>
          </a:xfrm>
          <a:prstGeom prst="rect">
            <a:avLst/>
          </a:prstGeom>
        </p:spPr>
      </p:pic>
      <p:sp>
        <p:nvSpPr>
          <p:cNvPr id="4" name="Text 1"/>
          <p:cNvSpPr/>
          <p:nvPr/>
        </p:nvSpPr>
        <p:spPr>
          <a:xfrm>
            <a:off x="6256677" y="1144389"/>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403C4E"/>
                </a:solidFill>
                <a:latin typeface="Merriweather Bold" pitchFamily="34" charset="0"/>
                <a:ea typeface="Merriweather Bold" pitchFamily="34" charset="-122"/>
                <a:cs typeface="Merriweather Bold" pitchFamily="34" charset="-120"/>
              </a:rPr>
              <a:t>Q1: How trustworthy are Nestivo's hosts overall?</a:t>
            </a:r>
            <a:endParaRPr lang="en-US" sz="1200" dirty="0"/>
          </a:p>
        </p:txBody>
      </p:sp>
      <p:sp>
        <p:nvSpPr>
          <p:cNvPr id="5" name="Text 2"/>
          <p:cNvSpPr/>
          <p:nvPr/>
        </p:nvSpPr>
        <p:spPr>
          <a:xfrm>
            <a:off x="6256677" y="1439069"/>
            <a:ext cx="5279893" cy="536377"/>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403C4E"/>
                </a:solidFill>
                <a:latin typeface="Open Sans" pitchFamily="34" charset="0"/>
                <a:ea typeface="Open Sans" pitchFamily="34" charset="-122"/>
                <a:cs typeface="Open Sans" pitchFamily="34" charset="-120"/>
              </a:rPr>
              <a:t>The Trust card shows that most hosts have at least one trust signal, such as a profile photo or identity verification. This is a positive sign because it means the platform is not mostly made up of completely anonymous hosts.</a:t>
            </a:r>
            <a:endParaRPr lang="en-US" sz="950" dirty="0"/>
          </a:p>
        </p:txBody>
      </p:sp>
      <p:sp>
        <p:nvSpPr>
          <p:cNvPr id="6" name="Text 3"/>
          <p:cNvSpPr/>
          <p:nvPr/>
        </p:nvSpPr>
        <p:spPr>
          <a:xfrm>
            <a:off x="6256677" y="2072382"/>
            <a:ext cx="5279893" cy="197743"/>
          </a:xfrm>
          <a:prstGeom prst="rect">
            <a:avLst/>
          </a:prstGeom>
          <a:noFill/>
          <a:ln/>
        </p:spPr>
        <p:txBody>
          <a:bodyPr wrap="none" lIns="0" tIns="0" rIns="0" bIns="0" rtlCol="0" anchor="t"/>
          <a:lstStyle/>
          <a:p>
            <a:pPr marL="0" indent="0" algn="l">
              <a:lnSpc>
                <a:spcPct val="104000"/>
              </a:lnSpc>
              <a:buNone/>
            </a:pPr>
            <a:r>
              <a:rPr lang="en-US" sz="1200" b="1" dirty="0">
                <a:solidFill>
                  <a:srgbClr val="403C4E"/>
                </a:solidFill>
                <a:latin typeface="Merriweather Bold" pitchFamily="34" charset="0"/>
                <a:ea typeface="Merriweather Bold" pitchFamily="34" charset="-122"/>
                <a:cs typeface="Merriweather Bold" pitchFamily="34" charset="-120"/>
              </a:rPr>
              <a:t>Q2: Do most hosts provide at least one trust signal?</a:t>
            </a:r>
            <a:endParaRPr lang="en-US" sz="1200" dirty="0"/>
          </a:p>
        </p:txBody>
      </p:sp>
      <p:sp>
        <p:nvSpPr>
          <p:cNvPr id="7" name="Text 4"/>
          <p:cNvSpPr/>
          <p:nvPr/>
        </p:nvSpPr>
        <p:spPr>
          <a:xfrm>
            <a:off x="6256677" y="2367062"/>
            <a:ext cx="5279893"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403C4E"/>
                </a:solidFill>
                <a:latin typeface="Open Sans" pitchFamily="34" charset="0"/>
                <a:ea typeface="Open Sans" pitchFamily="34" charset="-122"/>
                <a:cs typeface="Open Sans" pitchFamily="34" charset="-120"/>
              </a:rPr>
              <a:t>Yes. The trust breakdown shows that the vast majority of hosts fall into categories with some trust information, while only a small share sit in the weakest trust buckets.</a:t>
            </a:r>
            <a:endParaRPr lang="en-US" sz="950" dirty="0"/>
          </a:p>
        </p:txBody>
      </p:sp>
      <p:sp>
        <p:nvSpPr>
          <p:cNvPr id="8" name="Text 5"/>
          <p:cNvSpPr/>
          <p:nvPr/>
        </p:nvSpPr>
        <p:spPr>
          <a:xfrm>
            <a:off x="661475" y="4529138"/>
            <a:ext cx="5279893" cy="237331"/>
          </a:xfrm>
          <a:prstGeom prst="rect">
            <a:avLst/>
          </a:prstGeom>
          <a:noFill/>
          <a:ln/>
        </p:spPr>
        <p:txBody>
          <a:bodyPr wrap="none" lIns="0" tIns="0" rIns="0" bIns="0" rtlCol="0" anchor="t"/>
          <a:lstStyle/>
          <a:p>
            <a:pPr marL="0" indent="0" algn="l">
              <a:lnSpc>
                <a:spcPct val="104000"/>
              </a:lnSpc>
              <a:buNone/>
            </a:pPr>
            <a:r>
              <a:rPr lang="en-US" sz="1450" b="1" dirty="0">
                <a:solidFill>
                  <a:srgbClr val="403C4E"/>
                </a:solidFill>
                <a:latin typeface="Merriweather Bold" pitchFamily="34" charset="0"/>
                <a:ea typeface="Merriweather Bold" pitchFamily="34" charset="-122"/>
                <a:cs typeface="Merriweather Bold" pitchFamily="34" charset="-120"/>
              </a:rPr>
              <a:t>Q3: Why does this matter for guests?</a:t>
            </a:r>
            <a:endParaRPr lang="en-US" sz="1450" dirty="0"/>
          </a:p>
        </p:txBody>
      </p:sp>
      <p:sp>
        <p:nvSpPr>
          <p:cNvPr id="9" name="Text 6"/>
          <p:cNvSpPr/>
          <p:nvPr/>
        </p:nvSpPr>
        <p:spPr>
          <a:xfrm>
            <a:off x="661475" y="4863405"/>
            <a:ext cx="5279893" cy="670322"/>
          </a:xfrm>
          <a:prstGeom prst="rect">
            <a:avLst/>
          </a:prstGeom>
          <a:noFill/>
          <a:ln/>
        </p:spPr>
        <p:txBody>
          <a:bodyPr wrap="square" lIns="0" tIns="0" rIns="0" bIns="0" rtlCol="0" anchor="t">
            <a:normAutofit/>
          </a:bodyPr>
          <a:lstStyle/>
          <a:p>
            <a:pPr marL="0" indent="0" algn="l">
              <a:lnSpc>
                <a:spcPct val="118000"/>
              </a:lnSpc>
              <a:buNone/>
            </a:pPr>
            <a:r>
              <a:rPr lang="en-US" sz="1200" dirty="0">
                <a:solidFill>
                  <a:srgbClr val="403C4E"/>
                </a:solidFill>
                <a:latin typeface="Open Sans" pitchFamily="34" charset="0"/>
                <a:ea typeface="Open Sans" pitchFamily="34" charset="-122"/>
                <a:cs typeface="Open Sans" pitchFamily="34" charset="-120"/>
              </a:rPr>
              <a:t>Trust signals reduce uncertainty before booking. Guests are more likely to feel safe when they can see identity or profile information about the host.</a:t>
            </a:r>
            <a:endParaRPr lang="en-US" sz="1200" dirty="0"/>
          </a:p>
        </p:txBody>
      </p:sp>
      <p:sp>
        <p:nvSpPr>
          <p:cNvPr id="10" name="Shape 7"/>
          <p:cNvSpPr/>
          <p:nvPr/>
        </p:nvSpPr>
        <p:spPr>
          <a:xfrm>
            <a:off x="6165497" y="4432201"/>
            <a:ext cx="5462252" cy="1919288"/>
          </a:xfrm>
          <a:prstGeom prst="roundRect">
            <a:avLst>
              <a:gd name="adj" fmla="val 4750"/>
            </a:avLst>
          </a:prstGeom>
          <a:solidFill>
            <a:srgbClr val="FFAD94"/>
          </a:solidFill>
          <a:ln/>
        </p:spPr>
      </p:sp>
      <p:sp>
        <p:nvSpPr>
          <p:cNvPr id="11" name="Text 8"/>
          <p:cNvSpPr/>
          <p:nvPr/>
        </p:nvSpPr>
        <p:spPr>
          <a:xfrm>
            <a:off x="6292097" y="4529138"/>
            <a:ext cx="5209052" cy="197743"/>
          </a:xfrm>
          <a:prstGeom prst="rect">
            <a:avLst/>
          </a:prstGeom>
          <a:noFill/>
          <a:ln/>
        </p:spPr>
        <p:txBody>
          <a:bodyPr wrap="none" lIns="0" tIns="0" rIns="0" bIns="0" rtlCol="0" anchor="t"/>
          <a:lstStyle/>
          <a:p>
            <a:pPr marL="0" indent="0" algn="l">
              <a:lnSpc>
                <a:spcPct val="104000"/>
              </a:lnSpc>
              <a:buNone/>
            </a:pPr>
            <a:r>
              <a:rPr lang="en-US" sz="1200" b="1" dirty="0">
                <a:solidFill>
                  <a:srgbClr val="403C4E"/>
                </a:solidFill>
                <a:latin typeface="Merriweather Bold" pitchFamily="34" charset="0"/>
                <a:ea typeface="Merriweather Bold" pitchFamily="34" charset="-122"/>
                <a:cs typeface="Merriweather Bold" pitchFamily="34" charset="-120"/>
              </a:rPr>
              <a:t>Trust Signal Categories</a:t>
            </a:r>
            <a:endParaRPr lang="en-US" sz="1200" dirty="0"/>
          </a:p>
        </p:txBody>
      </p:sp>
      <p:sp>
        <p:nvSpPr>
          <p:cNvPr id="12" name="Shape 9"/>
          <p:cNvSpPr/>
          <p:nvPr/>
        </p:nvSpPr>
        <p:spPr>
          <a:xfrm>
            <a:off x="6292097" y="4835922"/>
            <a:ext cx="284850" cy="284857"/>
          </a:xfrm>
          <a:prstGeom prst="roundRect">
            <a:avLst>
              <a:gd name="adj" fmla="val 18671"/>
            </a:avLst>
          </a:prstGeom>
          <a:solidFill>
            <a:srgbClr val="FFD8CC"/>
          </a:solidFill>
          <a:ln w="6350">
            <a:solidFill>
              <a:srgbClr val="E5BEB2"/>
            </a:solidFill>
            <a:prstDash val="solid"/>
          </a:ln>
        </p:spPr>
      </p:sp>
      <p:pic>
        <p:nvPicPr>
          <p:cNvPr id="13"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39523" y="4883299"/>
            <a:ext cx="189900" cy="189905"/>
          </a:xfrm>
          <a:prstGeom prst="rect">
            <a:avLst/>
          </a:prstGeom>
        </p:spPr>
      </p:pic>
      <p:sp>
        <p:nvSpPr>
          <p:cNvPr id="14" name="Text 10"/>
          <p:cNvSpPr/>
          <p:nvPr/>
        </p:nvSpPr>
        <p:spPr>
          <a:xfrm>
            <a:off x="6673881" y="4879380"/>
            <a:ext cx="2162121" cy="197743"/>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erriweather Bold" pitchFamily="34" charset="0"/>
                <a:ea typeface="Merriweather Bold" pitchFamily="34" charset="-122"/>
                <a:cs typeface="Merriweather Bold" pitchFamily="34" charset="-120"/>
              </a:rPr>
              <a:t>Profile Photo</a:t>
            </a:r>
            <a:endParaRPr lang="en-US" sz="1200" dirty="0"/>
          </a:p>
        </p:txBody>
      </p:sp>
      <p:sp>
        <p:nvSpPr>
          <p:cNvPr id="15" name="Text 11"/>
          <p:cNvSpPr/>
          <p:nvPr/>
        </p:nvSpPr>
        <p:spPr>
          <a:xfrm>
            <a:off x="6673881" y="5174059"/>
            <a:ext cx="2162121"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000000"/>
                </a:solidFill>
                <a:latin typeface="Open Sans" pitchFamily="34" charset="0"/>
                <a:ea typeface="Open Sans" pitchFamily="34" charset="-122"/>
                <a:cs typeface="Open Sans" pitchFamily="34" charset="-120"/>
              </a:rPr>
              <a:t>Basic visual identity that increases perceived credibility</a:t>
            </a:r>
            <a:endParaRPr lang="en-US" sz="950" dirty="0"/>
          </a:p>
        </p:txBody>
      </p:sp>
      <p:sp>
        <p:nvSpPr>
          <p:cNvPr id="16" name="Shape 12"/>
          <p:cNvSpPr/>
          <p:nvPr/>
        </p:nvSpPr>
        <p:spPr>
          <a:xfrm>
            <a:off x="8957145" y="4835922"/>
            <a:ext cx="284850" cy="284857"/>
          </a:xfrm>
          <a:prstGeom prst="roundRect">
            <a:avLst>
              <a:gd name="adj" fmla="val 18671"/>
            </a:avLst>
          </a:prstGeom>
          <a:solidFill>
            <a:srgbClr val="FFD8CC"/>
          </a:solidFill>
          <a:ln w="6350">
            <a:solidFill>
              <a:srgbClr val="E5BEB2"/>
            </a:solidFill>
            <a:prstDash val="solid"/>
          </a:ln>
        </p:spPr>
      </p:sp>
      <p:pic>
        <p:nvPicPr>
          <p:cNvPr id="17"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04571" y="4883299"/>
            <a:ext cx="189900" cy="189905"/>
          </a:xfrm>
          <a:prstGeom prst="rect">
            <a:avLst/>
          </a:prstGeom>
        </p:spPr>
      </p:pic>
      <p:sp>
        <p:nvSpPr>
          <p:cNvPr id="18" name="Text 13"/>
          <p:cNvSpPr/>
          <p:nvPr/>
        </p:nvSpPr>
        <p:spPr>
          <a:xfrm>
            <a:off x="9338930" y="4879380"/>
            <a:ext cx="2162220" cy="197743"/>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erriweather Bold" pitchFamily="34" charset="0"/>
                <a:ea typeface="Merriweather Bold" pitchFamily="34" charset="-122"/>
                <a:cs typeface="Merriweather Bold" pitchFamily="34" charset="-120"/>
              </a:rPr>
              <a:t>Identity Verification</a:t>
            </a:r>
            <a:endParaRPr lang="en-US" sz="1200" dirty="0"/>
          </a:p>
        </p:txBody>
      </p:sp>
      <p:sp>
        <p:nvSpPr>
          <p:cNvPr id="19" name="Text 14"/>
          <p:cNvSpPr/>
          <p:nvPr/>
        </p:nvSpPr>
        <p:spPr>
          <a:xfrm>
            <a:off x="9338930" y="5174059"/>
            <a:ext cx="2162220"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000000"/>
                </a:solidFill>
                <a:latin typeface="Open Sans" pitchFamily="34" charset="0"/>
                <a:ea typeface="Open Sans" pitchFamily="34" charset="-122"/>
                <a:cs typeface="Open Sans" pitchFamily="34" charset="-120"/>
              </a:rPr>
              <a:t>Stronger signal — confirms the host is a real, verified individual</a:t>
            </a:r>
            <a:endParaRPr lang="en-US" sz="950" dirty="0"/>
          </a:p>
        </p:txBody>
      </p:sp>
      <p:sp>
        <p:nvSpPr>
          <p:cNvPr id="20" name="Shape 15"/>
          <p:cNvSpPr/>
          <p:nvPr/>
        </p:nvSpPr>
        <p:spPr>
          <a:xfrm>
            <a:off x="6292097" y="5725517"/>
            <a:ext cx="284850" cy="284857"/>
          </a:xfrm>
          <a:prstGeom prst="roundRect">
            <a:avLst>
              <a:gd name="adj" fmla="val 18671"/>
            </a:avLst>
          </a:prstGeom>
          <a:solidFill>
            <a:srgbClr val="FFD8CC"/>
          </a:solidFill>
          <a:ln w="6350">
            <a:solidFill>
              <a:srgbClr val="E5BEB2"/>
            </a:solidFill>
            <a:prstDash val="solid"/>
          </a:ln>
        </p:spPr>
      </p:sp>
      <p:pic>
        <p:nvPicPr>
          <p:cNvPr id="21"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39523" y="5772894"/>
            <a:ext cx="189900" cy="189905"/>
          </a:xfrm>
          <a:prstGeom prst="rect">
            <a:avLst/>
          </a:prstGeom>
        </p:spPr>
      </p:pic>
      <p:sp>
        <p:nvSpPr>
          <p:cNvPr id="22" name="Text 16"/>
          <p:cNvSpPr/>
          <p:nvPr/>
        </p:nvSpPr>
        <p:spPr>
          <a:xfrm>
            <a:off x="6673881" y="5768975"/>
            <a:ext cx="4827268" cy="197743"/>
          </a:xfrm>
          <a:prstGeom prst="rect">
            <a:avLst/>
          </a:prstGeom>
          <a:noFill/>
          <a:ln/>
        </p:spPr>
        <p:txBody>
          <a:bodyPr wrap="none" lIns="0" tIns="0" rIns="0" bIns="0" rtlCol="0" anchor="t"/>
          <a:lstStyle/>
          <a:p>
            <a:pPr marL="0" indent="0" algn="l">
              <a:lnSpc>
                <a:spcPct val="104000"/>
              </a:lnSpc>
              <a:buNone/>
            </a:pPr>
            <a:r>
              <a:rPr lang="en-US" sz="1200" b="1" dirty="0">
                <a:solidFill>
                  <a:srgbClr val="000000"/>
                </a:solidFill>
                <a:latin typeface="Merriweather Bold" pitchFamily="34" charset="0"/>
                <a:ea typeface="Merriweather Bold" pitchFamily="34" charset="-122"/>
                <a:cs typeface="Merriweather Bold" pitchFamily="34" charset="-120"/>
              </a:rPr>
              <a:t>Combined Signals</a:t>
            </a:r>
            <a:endParaRPr lang="en-US" sz="1200" dirty="0"/>
          </a:p>
        </p:txBody>
      </p:sp>
      <p:sp>
        <p:nvSpPr>
          <p:cNvPr id="23" name="Text 17"/>
          <p:cNvSpPr/>
          <p:nvPr/>
        </p:nvSpPr>
        <p:spPr>
          <a:xfrm>
            <a:off x="6673881" y="6063655"/>
            <a:ext cx="4827268" cy="178792"/>
          </a:xfrm>
          <a:prstGeom prst="rect">
            <a:avLst/>
          </a:prstGeom>
          <a:noFill/>
          <a:ln/>
        </p:spPr>
        <p:txBody>
          <a:bodyPr wrap="none" lIns="0" tIns="0" rIns="0" bIns="0" rtlCol="0" anchor="t"/>
          <a:lstStyle/>
          <a:p>
            <a:pPr marL="0" indent="0" algn="l">
              <a:lnSpc>
                <a:spcPct val="118000"/>
              </a:lnSpc>
              <a:buNone/>
            </a:pPr>
            <a:r>
              <a:rPr lang="en-US" sz="950" dirty="0">
                <a:solidFill>
                  <a:srgbClr val="000000"/>
                </a:solidFill>
                <a:latin typeface="Open Sans" pitchFamily="34" charset="0"/>
                <a:ea typeface="Open Sans" pitchFamily="34" charset="-122"/>
                <a:cs typeface="Open Sans" pitchFamily="34" charset="-120"/>
              </a:rPr>
              <a:t>Hosts with both signals represent the highest trust tier on the platform</a:t>
            </a:r>
            <a:endParaRPr lang="en-US" sz="950" dirty="0"/>
          </a:p>
        </p:txBody>
      </p:sp>
      <p:sp>
        <p:nvSpPr>
          <p:cNvPr id="24" name="Rectangle 23">
            <a:extLst>
              <a:ext uri="{FF2B5EF4-FFF2-40B4-BE49-F238E27FC236}">
                <a16:creationId xmlns:a16="http://schemas.microsoft.com/office/drawing/2014/main" id="{C68A730A-7480-186D-9F30-B502B5851C5C}"/>
              </a:ext>
            </a:extLst>
          </p:cNvPr>
          <p:cNvSpPr/>
          <p:nvPr/>
        </p:nvSpPr>
        <p:spPr>
          <a:xfrm>
            <a:off x="11052202" y="6521573"/>
            <a:ext cx="1106752" cy="31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6" name="Picture 25">
            <a:extLst>
              <a:ext uri="{FF2B5EF4-FFF2-40B4-BE49-F238E27FC236}">
                <a16:creationId xmlns:a16="http://schemas.microsoft.com/office/drawing/2014/main" id="{2952006A-C30F-72CE-6337-322E66F603D4}"/>
              </a:ext>
            </a:extLst>
          </p:cNvPr>
          <p:cNvPicPr>
            <a:picLocks noChangeAspect="1"/>
          </p:cNvPicPr>
          <p:nvPr/>
        </p:nvPicPr>
        <p:blipFill>
          <a:blip r:embed="rId6"/>
          <a:stretch>
            <a:fillRect/>
          </a:stretch>
        </p:blipFill>
        <p:spPr>
          <a:xfrm>
            <a:off x="0" y="0"/>
            <a:ext cx="12192000" cy="6858000"/>
          </a:xfrm>
          <a:prstGeom prst="rect">
            <a:avLst/>
          </a:prstGeom>
        </p:spPr>
      </p:pic>
      <p:sp>
        <p:nvSpPr>
          <p:cNvPr id="27" name="Rectangle 26">
            <a:extLst>
              <a:ext uri="{FF2B5EF4-FFF2-40B4-BE49-F238E27FC236}">
                <a16:creationId xmlns:a16="http://schemas.microsoft.com/office/drawing/2014/main" id="{66EB7862-FC7E-614C-05E9-B67A0F7ADEEF}"/>
              </a:ext>
            </a:extLst>
          </p:cNvPr>
          <p:cNvSpPr/>
          <p:nvPr/>
        </p:nvSpPr>
        <p:spPr>
          <a:xfrm>
            <a:off x="11008411" y="6485215"/>
            <a:ext cx="1106752" cy="31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468114"/>
            <a:ext cx="10868745" cy="500658"/>
          </a:xfrm>
          <a:prstGeom prst="rect">
            <a:avLst/>
          </a:prstGeom>
          <a:noFill/>
          <a:ln/>
        </p:spPr>
        <p:txBody>
          <a:bodyPr wrap="none" lIns="0" tIns="0" rIns="0" bIns="0" rtlCol="0" anchor="t"/>
          <a:lstStyle/>
          <a:p>
            <a:pPr marL="0" indent="0" algn="l">
              <a:lnSpc>
                <a:spcPct val="104000"/>
              </a:lnSpc>
              <a:buNone/>
            </a:pPr>
            <a:r>
              <a:rPr lang="en-US" sz="3150" b="1" dirty="0">
                <a:solidFill>
                  <a:srgbClr val="403C4E"/>
                </a:solidFill>
                <a:latin typeface="Merriweather Bold" pitchFamily="34" charset="0"/>
                <a:ea typeface="Merriweather Bold" pitchFamily="34" charset="-122"/>
                <a:cs typeface="Merriweather Bold" pitchFamily="34" charset="-120"/>
              </a:rPr>
              <a:t>Verification and Customer Protection</a:t>
            </a:r>
            <a:endParaRPr lang="en-US" sz="3150" dirty="0"/>
          </a:p>
        </p:txBody>
      </p:sp>
      <p:sp>
        <p:nvSpPr>
          <p:cNvPr id="3" name="Text 1"/>
          <p:cNvSpPr/>
          <p:nvPr/>
        </p:nvSpPr>
        <p:spPr>
          <a:xfrm>
            <a:off x="661475" y="1356717"/>
            <a:ext cx="5238917" cy="250329"/>
          </a:xfrm>
          <a:prstGeom prst="rect">
            <a:avLst/>
          </a:prstGeom>
          <a:noFill/>
          <a:ln/>
        </p:spPr>
        <p:txBody>
          <a:bodyPr wrap="none" lIns="0" tIns="0" rIns="0" bIns="0" rtlCol="0" anchor="t"/>
          <a:lstStyle/>
          <a:p>
            <a:pPr marL="0" indent="0" algn="l">
              <a:lnSpc>
                <a:spcPct val="104000"/>
              </a:lnSpc>
              <a:buNone/>
            </a:pPr>
            <a:r>
              <a:rPr lang="en-US" sz="1550" b="1" dirty="0">
                <a:solidFill>
                  <a:srgbClr val="403C4E"/>
                </a:solidFill>
                <a:latin typeface="Merriweather Bold" pitchFamily="34" charset="0"/>
                <a:ea typeface="Merriweather Bold" pitchFamily="34" charset="-122"/>
                <a:cs typeface="Merriweather Bold" pitchFamily="34" charset="-120"/>
              </a:rPr>
              <a:t>Q1: What percentage of hosts are fully verified?</a:t>
            </a:r>
            <a:endParaRPr lang="en-US" sz="1550" dirty="0"/>
          </a:p>
        </p:txBody>
      </p:sp>
      <p:sp>
        <p:nvSpPr>
          <p:cNvPr id="4" name="Text 2"/>
          <p:cNvSpPr/>
          <p:nvPr/>
        </p:nvSpPr>
        <p:spPr>
          <a:xfrm>
            <a:off x="661475" y="1762224"/>
            <a:ext cx="5238917" cy="1009253"/>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403C4E"/>
                </a:solidFill>
                <a:latin typeface="Open Sans" pitchFamily="34" charset="0"/>
                <a:ea typeface="Open Sans" pitchFamily="34" charset="-122"/>
                <a:cs typeface="Open Sans" pitchFamily="34" charset="-120"/>
              </a:rPr>
              <a:t>Based on the trust visual, the largest trust bucket appears to be around </a:t>
            </a:r>
            <a:r>
              <a:rPr lang="en-US" sz="1250" b="1" dirty="0">
                <a:solidFill>
                  <a:srgbClr val="403C4E"/>
                </a:solidFill>
                <a:latin typeface="Open Sans Bold" pitchFamily="34" charset="0"/>
                <a:ea typeface="Open Sans Bold" pitchFamily="34" charset="-122"/>
                <a:cs typeface="Open Sans Bold" pitchFamily="34" charset="-120"/>
              </a:rPr>
              <a:t>66.9%</a:t>
            </a:r>
            <a:r>
              <a:rPr lang="en-US" sz="1250" dirty="0">
                <a:solidFill>
                  <a:srgbClr val="403C4E"/>
                </a:solidFill>
                <a:latin typeface="Open Sans" pitchFamily="34" charset="0"/>
                <a:ea typeface="Open Sans" pitchFamily="34" charset="-122"/>
                <a:cs typeface="Open Sans" pitchFamily="34" charset="-120"/>
              </a:rPr>
              <a:t>. This suggests a strong share of hosts are in the most trusted category, although the visual should be explained carefully because it is presented as a trust matrix.</a:t>
            </a:r>
            <a:endParaRPr lang="en-US" sz="1250" dirty="0"/>
          </a:p>
        </p:txBody>
      </p:sp>
      <p:sp>
        <p:nvSpPr>
          <p:cNvPr id="5" name="Text 3"/>
          <p:cNvSpPr/>
          <p:nvPr/>
        </p:nvSpPr>
        <p:spPr>
          <a:xfrm>
            <a:off x="661475" y="2926655"/>
            <a:ext cx="5238917" cy="500658"/>
          </a:xfrm>
          <a:prstGeom prst="rect">
            <a:avLst/>
          </a:prstGeom>
          <a:noFill/>
          <a:ln/>
        </p:spPr>
        <p:txBody>
          <a:bodyPr wrap="square" lIns="0" tIns="0" rIns="0" bIns="0" rtlCol="0" anchor="t">
            <a:normAutofit/>
          </a:bodyPr>
          <a:lstStyle/>
          <a:p>
            <a:pPr marL="0" indent="0" algn="l">
              <a:lnSpc>
                <a:spcPct val="104000"/>
              </a:lnSpc>
              <a:buNone/>
            </a:pPr>
            <a:r>
              <a:rPr lang="en-US" sz="1550" b="1" dirty="0">
                <a:solidFill>
                  <a:srgbClr val="403C4E"/>
                </a:solidFill>
                <a:latin typeface="Merriweather Bold" pitchFamily="34" charset="0"/>
                <a:ea typeface="Merriweather Bold" pitchFamily="34" charset="-122"/>
                <a:cs typeface="Merriweather Bold" pitchFamily="34" charset="-120"/>
              </a:rPr>
              <a:t>Q2: How rare are completely unverified and anonymous hosts?</a:t>
            </a:r>
            <a:endParaRPr lang="en-US" sz="1550" dirty="0"/>
          </a:p>
        </p:txBody>
      </p:sp>
      <p:sp>
        <p:nvSpPr>
          <p:cNvPr id="6" name="Text 4"/>
          <p:cNvSpPr/>
          <p:nvPr/>
        </p:nvSpPr>
        <p:spPr>
          <a:xfrm>
            <a:off x="661475" y="3582491"/>
            <a:ext cx="5238917" cy="75694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403C4E"/>
                </a:solidFill>
                <a:latin typeface="Open Sans" pitchFamily="34" charset="0"/>
                <a:ea typeface="Open Sans" pitchFamily="34" charset="-122"/>
                <a:cs typeface="Open Sans" pitchFamily="34" charset="-120"/>
              </a:rPr>
              <a:t>Completely unverified or anonymous hosts appear to be very rare, around </a:t>
            </a:r>
            <a:r>
              <a:rPr lang="en-US" sz="1250" b="1" dirty="0">
                <a:solidFill>
                  <a:srgbClr val="403C4E"/>
                </a:solidFill>
                <a:latin typeface="Open Sans Bold" pitchFamily="34" charset="0"/>
                <a:ea typeface="Open Sans Bold" pitchFamily="34" charset="-122"/>
                <a:cs typeface="Open Sans Bold" pitchFamily="34" charset="-120"/>
              </a:rPr>
              <a:t>0.3%</a:t>
            </a:r>
            <a:r>
              <a:rPr lang="en-US" sz="1250" dirty="0">
                <a:solidFill>
                  <a:srgbClr val="403C4E"/>
                </a:solidFill>
                <a:latin typeface="Open Sans" pitchFamily="34" charset="0"/>
                <a:ea typeface="Open Sans" pitchFamily="34" charset="-122"/>
                <a:cs typeface="Open Sans" pitchFamily="34" charset="-120"/>
              </a:rPr>
              <a:t> in the weakest buckets. That is a good sign for platform trust and account safety.</a:t>
            </a:r>
            <a:endParaRPr lang="en-US" sz="1250" dirty="0"/>
          </a:p>
        </p:txBody>
      </p:sp>
      <p:sp>
        <p:nvSpPr>
          <p:cNvPr id="7" name="Text 5"/>
          <p:cNvSpPr/>
          <p:nvPr/>
        </p:nvSpPr>
        <p:spPr>
          <a:xfrm>
            <a:off x="661475" y="4494609"/>
            <a:ext cx="5238917" cy="250329"/>
          </a:xfrm>
          <a:prstGeom prst="rect">
            <a:avLst/>
          </a:prstGeom>
          <a:noFill/>
          <a:ln/>
        </p:spPr>
        <p:txBody>
          <a:bodyPr wrap="none" lIns="0" tIns="0" rIns="0" bIns="0" rtlCol="0" anchor="t"/>
          <a:lstStyle/>
          <a:p>
            <a:pPr marL="0" indent="0" algn="l">
              <a:lnSpc>
                <a:spcPct val="104000"/>
              </a:lnSpc>
              <a:buNone/>
            </a:pPr>
            <a:r>
              <a:rPr lang="en-US" sz="1550" b="1" dirty="0">
                <a:solidFill>
                  <a:srgbClr val="403C4E"/>
                </a:solidFill>
                <a:latin typeface="Merriweather Bold" pitchFamily="34" charset="0"/>
                <a:ea typeface="Merriweather Bold" pitchFamily="34" charset="-122"/>
                <a:cs typeface="Merriweather Bold" pitchFamily="34" charset="-120"/>
              </a:rPr>
              <a:t>Q3: Is Nestivo doing enough to protect its customers?</a:t>
            </a:r>
            <a:endParaRPr lang="en-US" sz="1550" dirty="0"/>
          </a:p>
        </p:txBody>
      </p:sp>
      <p:sp>
        <p:nvSpPr>
          <p:cNvPr id="8" name="Text 6"/>
          <p:cNvSpPr/>
          <p:nvPr/>
        </p:nvSpPr>
        <p:spPr>
          <a:xfrm>
            <a:off x="661475" y="4900116"/>
            <a:ext cx="5238917" cy="75694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403C4E"/>
                </a:solidFill>
                <a:latin typeface="Open Sans" pitchFamily="34" charset="0"/>
                <a:ea typeface="Open Sans" pitchFamily="34" charset="-122"/>
                <a:cs typeface="Open Sans" pitchFamily="34" charset="-120"/>
              </a:rPr>
              <a:t>Overall, Nestivo appears to have a decent trust baseline, but it should still push more hosts toward full verification. Stronger verification improves guest confidence and strengthens platform safety.</a:t>
            </a:r>
            <a:endParaRPr lang="en-US" sz="1250" dirty="0"/>
          </a:p>
        </p:txBody>
      </p:sp>
      <p:sp>
        <p:nvSpPr>
          <p:cNvPr id="9" name="Text 7"/>
          <p:cNvSpPr/>
          <p:nvPr/>
        </p:nvSpPr>
        <p:spPr>
          <a:xfrm>
            <a:off x="6573475" y="2417366"/>
            <a:ext cx="1970634" cy="400546"/>
          </a:xfrm>
          <a:prstGeom prst="rect">
            <a:avLst/>
          </a:prstGeom>
          <a:noFill/>
          <a:ln/>
        </p:spPr>
        <p:txBody>
          <a:bodyPr wrap="none" lIns="0" tIns="0" rIns="0" bIns="0" rtlCol="0" anchor="t"/>
          <a:lstStyle/>
          <a:p>
            <a:pPr marL="0" indent="0" algn="ctr">
              <a:lnSpc>
                <a:spcPct val="83000"/>
              </a:lnSpc>
              <a:buNone/>
            </a:pPr>
            <a:r>
              <a:rPr lang="en-US" sz="3150" b="1" dirty="0">
                <a:solidFill>
                  <a:srgbClr val="403C4E"/>
                </a:solidFill>
                <a:latin typeface="Merriweather Bold" pitchFamily="34" charset="0"/>
                <a:ea typeface="Merriweather Bold" pitchFamily="34" charset="-122"/>
                <a:cs typeface="Merriweather Bold" pitchFamily="34" charset="-120"/>
              </a:rPr>
              <a:t>66.9%</a:t>
            </a:r>
            <a:endParaRPr lang="en-US" sz="3150" dirty="0"/>
          </a:p>
        </p:txBody>
      </p:sp>
      <p:pic>
        <p:nvPicPr>
          <p:cNvPr id="10" name="Image 0" descr="preencoded.png"/>
          <p:cNvPicPr>
            <a:picLocks noChangeAspect="1"/>
          </p:cNvPicPr>
          <p:nvPr/>
        </p:nvPicPr>
        <p:blipFill>
          <a:blip r:embed="rId3"/>
          <a:stretch>
            <a:fillRect/>
          </a:stretch>
        </p:blipFill>
        <p:spPr>
          <a:xfrm>
            <a:off x="6357183" y="1416050"/>
            <a:ext cx="2403316" cy="2403376"/>
          </a:xfrm>
          <a:prstGeom prst="rect">
            <a:avLst/>
          </a:prstGeom>
        </p:spPr>
      </p:pic>
      <p:sp>
        <p:nvSpPr>
          <p:cNvPr id="11" name="Text 8"/>
          <p:cNvSpPr/>
          <p:nvPr/>
        </p:nvSpPr>
        <p:spPr>
          <a:xfrm>
            <a:off x="6297653" y="4014589"/>
            <a:ext cx="2522474" cy="250329"/>
          </a:xfrm>
          <a:prstGeom prst="rect">
            <a:avLst/>
          </a:prstGeom>
          <a:noFill/>
          <a:ln/>
        </p:spPr>
        <p:txBody>
          <a:bodyPr wrap="none" lIns="0" tIns="0" rIns="0" bIns="0" rtlCol="0" anchor="t"/>
          <a:lstStyle/>
          <a:p>
            <a:pPr marL="0" indent="0" algn="ctr">
              <a:lnSpc>
                <a:spcPct val="104000"/>
              </a:lnSpc>
              <a:buNone/>
            </a:pPr>
            <a:r>
              <a:rPr lang="en-US" sz="1550" b="1" dirty="0">
                <a:solidFill>
                  <a:srgbClr val="403C4E"/>
                </a:solidFill>
                <a:latin typeface="Merriweather Bold" pitchFamily="34" charset="0"/>
                <a:ea typeface="Merriweather Bold" pitchFamily="34" charset="-122"/>
                <a:cs typeface="Merriweather Bold" pitchFamily="34" charset="-120"/>
              </a:rPr>
              <a:t>Fully Verified Hosts</a:t>
            </a:r>
            <a:endParaRPr lang="en-US" sz="1550" dirty="0"/>
          </a:p>
        </p:txBody>
      </p:sp>
      <p:sp>
        <p:nvSpPr>
          <p:cNvPr id="12" name="Text 9"/>
          <p:cNvSpPr/>
          <p:nvPr/>
        </p:nvSpPr>
        <p:spPr>
          <a:xfrm>
            <a:off x="6297653" y="4420096"/>
            <a:ext cx="2522474" cy="504627"/>
          </a:xfrm>
          <a:prstGeom prst="rect">
            <a:avLst/>
          </a:prstGeom>
          <a:noFill/>
          <a:ln/>
        </p:spPr>
        <p:txBody>
          <a:bodyPr wrap="square" lIns="0" tIns="0" rIns="0" bIns="0" rtlCol="0" anchor="t">
            <a:normAutofit/>
          </a:bodyPr>
          <a:lstStyle/>
          <a:p>
            <a:pPr marL="0" indent="0" algn="ctr">
              <a:lnSpc>
                <a:spcPct val="131000"/>
              </a:lnSpc>
              <a:buNone/>
            </a:pPr>
            <a:r>
              <a:rPr lang="en-US" sz="1250" dirty="0">
                <a:solidFill>
                  <a:srgbClr val="403C4E"/>
                </a:solidFill>
                <a:latin typeface="Open Sans" pitchFamily="34" charset="0"/>
                <a:ea typeface="Open Sans" pitchFamily="34" charset="-122"/>
                <a:cs typeface="Open Sans" pitchFamily="34" charset="-120"/>
              </a:rPr>
              <a:t>Largest trust bucket — strongest category</a:t>
            </a:r>
            <a:endParaRPr lang="en-US" sz="1250" dirty="0"/>
          </a:p>
        </p:txBody>
      </p:sp>
      <p:sp>
        <p:nvSpPr>
          <p:cNvPr id="13" name="Text 10"/>
          <p:cNvSpPr/>
          <p:nvPr/>
        </p:nvSpPr>
        <p:spPr>
          <a:xfrm>
            <a:off x="9289917" y="2417366"/>
            <a:ext cx="1970634" cy="400546"/>
          </a:xfrm>
          <a:prstGeom prst="rect">
            <a:avLst/>
          </a:prstGeom>
          <a:noFill/>
          <a:ln/>
        </p:spPr>
        <p:txBody>
          <a:bodyPr wrap="none" lIns="0" tIns="0" rIns="0" bIns="0" rtlCol="0" anchor="t"/>
          <a:lstStyle/>
          <a:p>
            <a:pPr marL="0" indent="0" algn="ctr">
              <a:lnSpc>
                <a:spcPct val="83000"/>
              </a:lnSpc>
              <a:buNone/>
            </a:pPr>
            <a:r>
              <a:rPr lang="en-US" sz="3150" b="1" dirty="0">
                <a:solidFill>
                  <a:srgbClr val="403C4E"/>
                </a:solidFill>
                <a:latin typeface="Merriweather Bold" pitchFamily="34" charset="0"/>
                <a:ea typeface="Merriweather Bold" pitchFamily="34" charset="-122"/>
                <a:cs typeface="Merriweather Bold" pitchFamily="34" charset="-120"/>
              </a:rPr>
              <a:t>0.3%</a:t>
            </a:r>
            <a:endParaRPr lang="en-US" sz="3150" dirty="0"/>
          </a:p>
        </p:txBody>
      </p:sp>
      <p:pic>
        <p:nvPicPr>
          <p:cNvPr id="14" name="Image 1" descr="preencoded.png"/>
          <p:cNvPicPr>
            <a:picLocks noChangeAspect="1"/>
          </p:cNvPicPr>
          <p:nvPr/>
        </p:nvPicPr>
        <p:blipFill>
          <a:blip r:embed="rId4"/>
          <a:stretch>
            <a:fillRect/>
          </a:stretch>
        </p:blipFill>
        <p:spPr>
          <a:xfrm>
            <a:off x="9073625" y="1416050"/>
            <a:ext cx="2403316" cy="2403376"/>
          </a:xfrm>
          <a:prstGeom prst="rect">
            <a:avLst/>
          </a:prstGeom>
        </p:spPr>
      </p:pic>
      <p:sp>
        <p:nvSpPr>
          <p:cNvPr id="15" name="Text 11"/>
          <p:cNvSpPr/>
          <p:nvPr/>
        </p:nvSpPr>
        <p:spPr>
          <a:xfrm>
            <a:off x="9014096" y="4014589"/>
            <a:ext cx="2522474" cy="250329"/>
          </a:xfrm>
          <a:prstGeom prst="rect">
            <a:avLst/>
          </a:prstGeom>
          <a:noFill/>
          <a:ln/>
        </p:spPr>
        <p:txBody>
          <a:bodyPr wrap="none" lIns="0" tIns="0" rIns="0" bIns="0" rtlCol="0" anchor="t"/>
          <a:lstStyle/>
          <a:p>
            <a:pPr marL="0" indent="0" algn="ctr">
              <a:lnSpc>
                <a:spcPct val="104000"/>
              </a:lnSpc>
              <a:buNone/>
            </a:pPr>
            <a:r>
              <a:rPr lang="en-US" sz="1550" b="1" dirty="0">
                <a:solidFill>
                  <a:srgbClr val="403C4E"/>
                </a:solidFill>
                <a:latin typeface="Merriweather Bold" pitchFamily="34" charset="0"/>
                <a:ea typeface="Merriweather Bold" pitchFamily="34" charset="-122"/>
                <a:cs typeface="Merriweather Bold" pitchFamily="34" charset="-120"/>
              </a:rPr>
              <a:t>Unverified / Anonymous</a:t>
            </a:r>
            <a:endParaRPr lang="en-US" sz="1550" dirty="0"/>
          </a:p>
        </p:txBody>
      </p:sp>
      <p:sp>
        <p:nvSpPr>
          <p:cNvPr id="16" name="Text 12"/>
          <p:cNvSpPr/>
          <p:nvPr/>
        </p:nvSpPr>
        <p:spPr>
          <a:xfrm>
            <a:off x="9014096" y="4420096"/>
            <a:ext cx="2522474" cy="504627"/>
          </a:xfrm>
          <a:prstGeom prst="rect">
            <a:avLst/>
          </a:prstGeom>
          <a:noFill/>
          <a:ln/>
        </p:spPr>
        <p:txBody>
          <a:bodyPr wrap="square" lIns="0" tIns="0" rIns="0" bIns="0" rtlCol="0" anchor="t">
            <a:normAutofit/>
          </a:bodyPr>
          <a:lstStyle/>
          <a:p>
            <a:pPr marL="0" indent="0" algn="ctr">
              <a:lnSpc>
                <a:spcPct val="131000"/>
              </a:lnSpc>
              <a:buNone/>
            </a:pPr>
            <a:r>
              <a:rPr lang="en-US" sz="1250" dirty="0">
                <a:solidFill>
                  <a:srgbClr val="403C4E"/>
                </a:solidFill>
                <a:latin typeface="Open Sans" pitchFamily="34" charset="0"/>
                <a:ea typeface="Open Sans" pitchFamily="34" charset="-122"/>
                <a:cs typeface="Open Sans" pitchFamily="34" charset="-120"/>
              </a:rPr>
              <a:t>Weakest trust buckets — very rare</a:t>
            </a:r>
            <a:endParaRPr lang="en-US" sz="1250" dirty="0"/>
          </a:p>
        </p:txBody>
      </p:sp>
      <p:sp>
        <p:nvSpPr>
          <p:cNvPr id="17" name="Shape 13"/>
          <p:cNvSpPr/>
          <p:nvPr/>
        </p:nvSpPr>
        <p:spPr>
          <a:xfrm>
            <a:off x="6297653" y="5099248"/>
            <a:ext cx="5238917" cy="1116112"/>
          </a:xfrm>
          <a:prstGeom prst="roundRect">
            <a:avLst>
              <a:gd name="adj" fmla="val 6029"/>
            </a:avLst>
          </a:prstGeom>
          <a:solidFill>
            <a:srgbClr val="FFD8CC"/>
          </a:solidFill>
          <a:ln/>
        </p:spPr>
      </p:sp>
      <p:pic>
        <p:nvPicPr>
          <p:cNvPr id="18" name="Image 2" descr="preencoded.png"/>
          <p:cNvPicPr>
            <a:picLocks noChangeAspect="1"/>
          </p:cNvPicPr>
          <p:nvPr/>
        </p:nvPicPr>
        <p:blipFill>
          <a:blip r:embed="rId5"/>
          <a:stretch>
            <a:fillRect/>
          </a:stretch>
        </p:blipFill>
        <p:spPr>
          <a:xfrm>
            <a:off x="6457788" y="5338366"/>
            <a:ext cx="200218" cy="160139"/>
          </a:xfrm>
          <a:prstGeom prst="rect">
            <a:avLst/>
          </a:prstGeom>
        </p:spPr>
      </p:pic>
      <p:sp>
        <p:nvSpPr>
          <p:cNvPr id="19" name="Text 14"/>
          <p:cNvSpPr/>
          <p:nvPr/>
        </p:nvSpPr>
        <p:spPr>
          <a:xfrm>
            <a:off x="6818142" y="5278834"/>
            <a:ext cx="4558293" cy="75694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000000"/>
                </a:solidFill>
                <a:latin typeface="Open Sans" pitchFamily="34" charset="0"/>
                <a:ea typeface="Open Sans" pitchFamily="34" charset="-122"/>
                <a:cs typeface="Open Sans" pitchFamily="34" charset="-120"/>
              </a:rPr>
              <a:t>The platform's low rate of anonymous hosts is a meaningful signal of baseline safety — but full verification should remain a strategic priority.</a:t>
            </a:r>
            <a:endParaRPr lang="en-US" sz="1250" dirty="0"/>
          </a:p>
        </p:txBody>
      </p:sp>
      <p:sp>
        <p:nvSpPr>
          <p:cNvPr id="20" name="Rectangle 19">
            <a:extLst>
              <a:ext uri="{FF2B5EF4-FFF2-40B4-BE49-F238E27FC236}">
                <a16:creationId xmlns:a16="http://schemas.microsoft.com/office/drawing/2014/main" id="{FD77AD8C-5FC9-985F-C678-3E55EA8C78A9}"/>
              </a:ext>
            </a:extLst>
          </p:cNvPr>
          <p:cNvSpPr/>
          <p:nvPr/>
        </p:nvSpPr>
        <p:spPr>
          <a:xfrm>
            <a:off x="11052202" y="6521573"/>
            <a:ext cx="1106752" cy="31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14350"/>
            <a:ext cx="10868745" cy="452239"/>
          </a:xfrm>
          <a:prstGeom prst="rect">
            <a:avLst/>
          </a:prstGeom>
          <a:noFill/>
          <a:ln/>
        </p:spPr>
        <p:txBody>
          <a:bodyPr wrap="none" lIns="0" tIns="0" rIns="0" bIns="0" rtlCol="0" anchor="t"/>
          <a:lstStyle/>
          <a:p>
            <a:pPr marL="0" indent="0" algn="ctr">
              <a:lnSpc>
                <a:spcPct val="104000"/>
              </a:lnSpc>
              <a:buNone/>
            </a:pPr>
            <a:r>
              <a:rPr lang="en-US" sz="2800" b="1" dirty="0">
                <a:solidFill>
                  <a:srgbClr val="403C4E"/>
                </a:solidFill>
                <a:latin typeface="Merriweather Bold" pitchFamily="34" charset="0"/>
                <a:ea typeface="Merriweather Bold" pitchFamily="34" charset="-122"/>
                <a:cs typeface="Merriweather Bold" pitchFamily="34" charset="-120"/>
              </a:rPr>
              <a:t>Key Business Takeaways</a:t>
            </a:r>
            <a:endParaRPr lang="en-US" sz="280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1219795"/>
            <a:ext cx="5371073" cy="1696641"/>
          </a:xfrm>
          <a:prstGeom prst="rect">
            <a:avLst/>
          </a:prstGeom>
        </p:spPr>
      </p:pic>
      <p:sp>
        <p:nvSpPr>
          <p:cNvPr id="4" name="Text 1"/>
          <p:cNvSpPr/>
          <p:nvPr/>
        </p:nvSpPr>
        <p:spPr>
          <a:xfrm>
            <a:off x="3238518" y="1317030"/>
            <a:ext cx="216986" cy="271264"/>
          </a:xfrm>
          <a:prstGeom prst="rect">
            <a:avLst/>
          </a:prstGeom>
          <a:noFill/>
          <a:ln/>
        </p:spPr>
        <p:txBody>
          <a:bodyPr wrap="none" lIns="0" tIns="0" rIns="0" bIns="0" rtlCol="0" anchor="ctr"/>
          <a:lstStyle/>
          <a:p>
            <a:pPr marL="0" indent="0" algn="ctr">
              <a:lnSpc>
                <a:spcPct val="100000"/>
              </a:lnSpc>
              <a:buNone/>
            </a:pPr>
            <a:r>
              <a:rPr lang="en-US" sz="1700" b="1" dirty="0">
                <a:solidFill>
                  <a:srgbClr val="403C4E"/>
                </a:solidFill>
                <a:latin typeface="Merriweather Bold" pitchFamily="34" charset="0"/>
                <a:ea typeface="Merriweather Bold" pitchFamily="34" charset="-122"/>
                <a:cs typeface="Merriweather Bold" pitchFamily="34" charset="-120"/>
              </a:rPr>
              <a:t>1</a:t>
            </a:r>
            <a:endParaRPr lang="en-US" sz="1700" dirty="0"/>
          </a:p>
        </p:txBody>
      </p:sp>
      <p:sp>
        <p:nvSpPr>
          <p:cNvPr id="5" name="Text 2"/>
          <p:cNvSpPr/>
          <p:nvPr/>
        </p:nvSpPr>
        <p:spPr>
          <a:xfrm>
            <a:off x="825182" y="1799530"/>
            <a:ext cx="5043659" cy="226020"/>
          </a:xfrm>
          <a:prstGeom prst="rect">
            <a:avLst/>
          </a:prstGeom>
          <a:noFill/>
          <a:ln/>
        </p:spPr>
        <p:txBody>
          <a:bodyPr wrap="none" lIns="0" tIns="0" rIns="0" bIns="0" rtlCol="0" anchor="t"/>
          <a:lstStyle/>
          <a:p>
            <a:pPr marL="0" indent="0" algn="l">
              <a:lnSpc>
                <a:spcPct val="104000"/>
              </a:lnSpc>
              <a:buNone/>
            </a:pPr>
            <a:r>
              <a:rPr lang="en-US" sz="1400" b="1" dirty="0">
                <a:solidFill>
                  <a:srgbClr val="403C4E"/>
                </a:solidFill>
                <a:latin typeface="Merriweather Bold" pitchFamily="34" charset="0"/>
                <a:ea typeface="Merriweather Bold" pitchFamily="34" charset="-122"/>
                <a:cs typeface="Merriweather Bold" pitchFamily="34" charset="-120"/>
              </a:rPr>
              <a:t>Scale with Concentration Risk</a:t>
            </a:r>
            <a:endParaRPr lang="en-US" sz="1400" dirty="0"/>
          </a:p>
        </p:txBody>
      </p:sp>
      <p:sp>
        <p:nvSpPr>
          <p:cNvPr id="6" name="Text 3"/>
          <p:cNvSpPr/>
          <p:nvPr/>
        </p:nvSpPr>
        <p:spPr>
          <a:xfrm>
            <a:off x="825182" y="2101453"/>
            <a:ext cx="5043659" cy="651272"/>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403C4E"/>
                </a:solidFill>
                <a:latin typeface="Open Sans" pitchFamily="34" charset="0"/>
                <a:ea typeface="Open Sans" pitchFamily="34" charset="-122"/>
                <a:cs typeface="Open Sans" pitchFamily="34" charset="-120"/>
              </a:rPr>
              <a:t>Nestivo is a large platform with strong presence in a few major cities, but supply is concentrated and not evenly distributed. City-level decisions matter a lot for overall performance.</a:t>
            </a:r>
            <a:endParaRPr lang="en-US" sz="110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59147" y="1219795"/>
            <a:ext cx="5371073" cy="1696641"/>
          </a:xfrm>
          <a:prstGeom prst="rect">
            <a:avLst/>
          </a:prstGeom>
        </p:spPr>
      </p:pic>
      <p:sp>
        <p:nvSpPr>
          <p:cNvPr id="8" name="Text 4"/>
          <p:cNvSpPr/>
          <p:nvPr/>
        </p:nvSpPr>
        <p:spPr>
          <a:xfrm>
            <a:off x="8736191" y="1317030"/>
            <a:ext cx="216986" cy="271264"/>
          </a:xfrm>
          <a:prstGeom prst="rect">
            <a:avLst/>
          </a:prstGeom>
          <a:noFill/>
          <a:ln/>
        </p:spPr>
        <p:txBody>
          <a:bodyPr wrap="none" lIns="0" tIns="0" rIns="0" bIns="0" rtlCol="0" anchor="ctr"/>
          <a:lstStyle/>
          <a:p>
            <a:pPr marL="0" indent="0" algn="ctr">
              <a:lnSpc>
                <a:spcPct val="100000"/>
              </a:lnSpc>
              <a:buNone/>
            </a:pPr>
            <a:r>
              <a:rPr lang="en-US" sz="1700" b="1" dirty="0">
                <a:solidFill>
                  <a:srgbClr val="403C4E"/>
                </a:solidFill>
                <a:latin typeface="Merriweather Bold" pitchFamily="34" charset="0"/>
                <a:ea typeface="Merriweather Bold" pitchFamily="34" charset="-122"/>
                <a:cs typeface="Merriweather Bold" pitchFamily="34" charset="-120"/>
              </a:rPr>
              <a:t>2</a:t>
            </a:r>
            <a:endParaRPr lang="en-US" sz="1700" dirty="0"/>
          </a:p>
        </p:txBody>
      </p:sp>
      <p:sp>
        <p:nvSpPr>
          <p:cNvPr id="9" name="Text 5"/>
          <p:cNvSpPr/>
          <p:nvPr/>
        </p:nvSpPr>
        <p:spPr>
          <a:xfrm>
            <a:off x="6322854" y="1799530"/>
            <a:ext cx="5043659" cy="226020"/>
          </a:xfrm>
          <a:prstGeom prst="rect">
            <a:avLst/>
          </a:prstGeom>
          <a:noFill/>
          <a:ln/>
        </p:spPr>
        <p:txBody>
          <a:bodyPr wrap="none" lIns="0" tIns="0" rIns="0" bIns="0" rtlCol="0" anchor="t"/>
          <a:lstStyle/>
          <a:p>
            <a:pPr marL="0" indent="0" algn="l">
              <a:lnSpc>
                <a:spcPct val="104000"/>
              </a:lnSpc>
              <a:buNone/>
            </a:pPr>
            <a:r>
              <a:rPr lang="en-US" sz="1400" b="1" dirty="0">
                <a:solidFill>
                  <a:srgbClr val="403C4E"/>
                </a:solidFill>
                <a:latin typeface="Merriweather Bold" pitchFamily="34" charset="0"/>
                <a:ea typeface="Merriweather Bold" pitchFamily="34" charset="-122"/>
                <a:cs typeface="Merriweather Bold" pitchFamily="34" charset="-120"/>
              </a:rPr>
              <a:t>Supply ≠ Quality</a:t>
            </a:r>
            <a:endParaRPr lang="en-US" sz="1400" dirty="0"/>
          </a:p>
        </p:txBody>
      </p:sp>
      <p:sp>
        <p:nvSpPr>
          <p:cNvPr id="10" name="Text 6"/>
          <p:cNvSpPr/>
          <p:nvPr/>
        </p:nvSpPr>
        <p:spPr>
          <a:xfrm>
            <a:off x="6322854" y="2101453"/>
            <a:ext cx="5043659" cy="434181"/>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403C4E"/>
                </a:solidFill>
                <a:latin typeface="Open Sans" pitchFamily="34" charset="0"/>
                <a:ea typeface="Open Sans" pitchFamily="34" charset="-122"/>
                <a:cs typeface="Open Sans" pitchFamily="34" charset="-120"/>
              </a:rPr>
              <a:t>Paris leads in supply but Mexico City leads in ratings. Nestivo must monitor service quality and guest satisfaction independently from listing volume.</a:t>
            </a:r>
            <a:endParaRPr lang="en-US" sz="1100" dirty="0"/>
          </a:p>
        </p:txBody>
      </p:sp>
      <p:pic>
        <p:nvPicPr>
          <p:cNvPr id="11"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043039"/>
            <a:ext cx="5371073" cy="1696641"/>
          </a:xfrm>
          <a:prstGeom prst="rect">
            <a:avLst/>
          </a:prstGeom>
        </p:spPr>
      </p:pic>
      <p:sp>
        <p:nvSpPr>
          <p:cNvPr id="12" name="Text 7"/>
          <p:cNvSpPr/>
          <p:nvPr/>
        </p:nvSpPr>
        <p:spPr>
          <a:xfrm>
            <a:off x="3238518" y="3140273"/>
            <a:ext cx="216986" cy="271264"/>
          </a:xfrm>
          <a:prstGeom prst="rect">
            <a:avLst/>
          </a:prstGeom>
          <a:noFill/>
          <a:ln/>
        </p:spPr>
        <p:txBody>
          <a:bodyPr wrap="none" lIns="0" tIns="0" rIns="0" bIns="0" rtlCol="0" anchor="ctr"/>
          <a:lstStyle/>
          <a:p>
            <a:pPr marL="0" indent="0" algn="ctr">
              <a:lnSpc>
                <a:spcPct val="100000"/>
              </a:lnSpc>
              <a:buNone/>
            </a:pPr>
            <a:r>
              <a:rPr lang="en-US" sz="1700" b="1" dirty="0">
                <a:solidFill>
                  <a:srgbClr val="403C4E"/>
                </a:solidFill>
                <a:latin typeface="Merriweather Bold" pitchFamily="34" charset="0"/>
                <a:ea typeface="Merriweather Bold" pitchFamily="34" charset="-122"/>
                <a:cs typeface="Merriweather Bold" pitchFamily="34" charset="-120"/>
              </a:rPr>
              <a:t>3</a:t>
            </a:r>
            <a:endParaRPr lang="en-US" sz="1700" dirty="0"/>
          </a:p>
        </p:txBody>
      </p:sp>
      <p:sp>
        <p:nvSpPr>
          <p:cNvPr id="13" name="Text 8"/>
          <p:cNvSpPr/>
          <p:nvPr/>
        </p:nvSpPr>
        <p:spPr>
          <a:xfrm>
            <a:off x="825182" y="3622774"/>
            <a:ext cx="5043659" cy="226020"/>
          </a:xfrm>
          <a:prstGeom prst="rect">
            <a:avLst/>
          </a:prstGeom>
          <a:noFill/>
          <a:ln/>
        </p:spPr>
        <p:txBody>
          <a:bodyPr wrap="none" lIns="0" tIns="0" rIns="0" bIns="0" rtlCol="0" anchor="t"/>
          <a:lstStyle/>
          <a:p>
            <a:pPr marL="0" indent="0" algn="l">
              <a:lnSpc>
                <a:spcPct val="104000"/>
              </a:lnSpc>
              <a:buNone/>
            </a:pPr>
            <a:r>
              <a:rPr lang="en-US" sz="1400" b="1" dirty="0">
                <a:solidFill>
                  <a:srgbClr val="403C4E"/>
                </a:solidFill>
                <a:latin typeface="Merriweather Bold" pitchFamily="34" charset="0"/>
                <a:ea typeface="Merriweather Bold" pitchFamily="34" charset="-122"/>
                <a:cs typeface="Merriweather Bold" pitchFamily="34" charset="-120"/>
              </a:rPr>
              <a:t>Pricing Segmentation Opportunity</a:t>
            </a:r>
            <a:endParaRPr lang="en-US" sz="1400" dirty="0"/>
          </a:p>
        </p:txBody>
      </p:sp>
      <p:sp>
        <p:nvSpPr>
          <p:cNvPr id="14" name="Text 9"/>
          <p:cNvSpPr/>
          <p:nvPr/>
        </p:nvSpPr>
        <p:spPr>
          <a:xfrm>
            <a:off x="825182" y="3924697"/>
            <a:ext cx="5043659" cy="651272"/>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403C4E"/>
                </a:solidFill>
                <a:latin typeface="Open Sans" pitchFamily="34" charset="0"/>
                <a:ea typeface="Open Sans" pitchFamily="34" charset="-122"/>
                <a:cs typeface="Open Sans" pitchFamily="34" charset="-120"/>
              </a:rPr>
              <a:t>The $338 spread between hotel rooms ($800) and private rooms ($462) creates a clear opportunity for targeted pricing strategies across guest segments.</a:t>
            </a:r>
            <a:endParaRPr lang="en-US" sz="1100" dirty="0"/>
          </a:p>
        </p:txBody>
      </p:sp>
      <p:pic>
        <p:nvPicPr>
          <p:cNvPr id="15"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59147" y="3043039"/>
            <a:ext cx="5371073" cy="1696641"/>
          </a:xfrm>
          <a:prstGeom prst="rect">
            <a:avLst/>
          </a:prstGeom>
        </p:spPr>
      </p:pic>
      <p:sp>
        <p:nvSpPr>
          <p:cNvPr id="16" name="Text 10"/>
          <p:cNvSpPr/>
          <p:nvPr/>
        </p:nvSpPr>
        <p:spPr>
          <a:xfrm>
            <a:off x="8736191" y="3140273"/>
            <a:ext cx="216986" cy="271264"/>
          </a:xfrm>
          <a:prstGeom prst="rect">
            <a:avLst/>
          </a:prstGeom>
          <a:noFill/>
          <a:ln/>
        </p:spPr>
        <p:txBody>
          <a:bodyPr wrap="none" lIns="0" tIns="0" rIns="0" bIns="0" rtlCol="0" anchor="ctr"/>
          <a:lstStyle/>
          <a:p>
            <a:pPr marL="0" indent="0" algn="ctr">
              <a:lnSpc>
                <a:spcPct val="100000"/>
              </a:lnSpc>
              <a:buNone/>
            </a:pPr>
            <a:r>
              <a:rPr lang="en-US" sz="1700" b="1" dirty="0">
                <a:solidFill>
                  <a:srgbClr val="403C4E"/>
                </a:solidFill>
                <a:latin typeface="Merriweather Bold" pitchFamily="34" charset="0"/>
                <a:ea typeface="Merriweather Bold" pitchFamily="34" charset="-122"/>
                <a:cs typeface="Merriweather Bold" pitchFamily="34" charset="-120"/>
              </a:rPr>
              <a:t>4</a:t>
            </a:r>
            <a:endParaRPr lang="en-US" sz="1700" dirty="0"/>
          </a:p>
        </p:txBody>
      </p:sp>
      <p:sp>
        <p:nvSpPr>
          <p:cNvPr id="17" name="Text 11"/>
          <p:cNvSpPr/>
          <p:nvPr/>
        </p:nvSpPr>
        <p:spPr>
          <a:xfrm>
            <a:off x="6322854" y="3622774"/>
            <a:ext cx="5043659" cy="226020"/>
          </a:xfrm>
          <a:prstGeom prst="rect">
            <a:avLst/>
          </a:prstGeom>
          <a:noFill/>
          <a:ln/>
        </p:spPr>
        <p:txBody>
          <a:bodyPr wrap="none" lIns="0" tIns="0" rIns="0" bIns="0" rtlCol="0" anchor="t"/>
          <a:lstStyle/>
          <a:p>
            <a:pPr marL="0" indent="0" algn="l">
              <a:lnSpc>
                <a:spcPct val="104000"/>
              </a:lnSpc>
              <a:buNone/>
            </a:pPr>
            <a:r>
              <a:rPr lang="en-US" sz="1400" b="1" dirty="0">
                <a:solidFill>
                  <a:srgbClr val="403C4E"/>
                </a:solidFill>
                <a:latin typeface="Merriweather Bold" pitchFamily="34" charset="0"/>
                <a:ea typeface="Merriweather Bold" pitchFamily="34" charset="-122"/>
                <a:cs typeface="Merriweather Bold" pitchFamily="34" charset="-120"/>
              </a:rPr>
              <a:t>Trust Baseline is Healthy — But Not Complete</a:t>
            </a:r>
            <a:endParaRPr lang="en-US" sz="1400" dirty="0"/>
          </a:p>
        </p:txBody>
      </p:sp>
      <p:sp>
        <p:nvSpPr>
          <p:cNvPr id="18" name="Text 12"/>
          <p:cNvSpPr/>
          <p:nvPr/>
        </p:nvSpPr>
        <p:spPr>
          <a:xfrm>
            <a:off x="6322854" y="3924697"/>
            <a:ext cx="5043659" cy="651272"/>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403C4E"/>
                </a:solidFill>
                <a:latin typeface="Open Sans" pitchFamily="34" charset="0"/>
                <a:ea typeface="Open Sans" pitchFamily="34" charset="-122"/>
                <a:cs typeface="Open Sans" pitchFamily="34" charset="-120"/>
              </a:rPr>
              <a:t>With ~66.9% of hosts fully verified and fewer than 0.3% anonymous, the platform has a solid foundation. Pushing more hosts toward full verification remains a priority.</a:t>
            </a:r>
            <a:endParaRPr lang="en-US" sz="1100" dirty="0"/>
          </a:p>
        </p:txBody>
      </p:sp>
      <p:sp>
        <p:nvSpPr>
          <p:cNvPr id="19" name="Shape 13"/>
          <p:cNvSpPr/>
          <p:nvPr/>
        </p:nvSpPr>
        <p:spPr>
          <a:xfrm>
            <a:off x="557298" y="4882059"/>
            <a:ext cx="5466221" cy="1461492"/>
          </a:xfrm>
          <a:prstGeom prst="roundRect">
            <a:avLst>
              <a:gd name="adj" fmla="val 7129"/>
            </a:avLst>
          </a:prstGeom>
          <a:solidFill>
            <a:srgbClr val="FFAD94"/>
          </a:solidFill>
          <a:ln/>
        </p:spPr>
      </p:sp>
      <p:sp>
        <p:nvSpPr>
          <p:cNvPr id="20" name="Text 14"/>
          <p:cNvSpPr/>
          <p:nvPr/>
        </p:nvSpPr>
        <p:spPr>
          <a:xfrm>
            <a:off x="701955" y="5008662"/>
            <a:ext cx="5176906" cy="226020"/>
          </a:xfrm>
          <a:prstGeom prst="rect">
            <a:avLst/>
          </a:prstGeom>
          <a:noFill/>
          <a:ln/>
        </p:spPr>
        <p:txBody>
          <a:bodyPr wrap="none" lIns="0" tIns="0" rIns="0" bIns="0" rtlCol="0" anchor="t"/>
          <a:lstStyle/>
          <a:p>
            <a:pPr marL="0" indent="0" algn="l">
              <a:lnSpc>
                <a:spcPct val="104000"/>
              </a:lnSpc>
              <a:buNone/>
            </a:pPr>
            <a:r>
              <a:rPr lang="en-US" sz="1400" b="1" dirty="0">
                <a:solidFill>
                  <a:srgbClr val="403C4E"/>
                </a:solidFill>
                <a:latin typeface="Merriweather Bold" pitchFamily="34" charset="0"/>
                <a:ea typeface="Merriweather Bold" pitchFamily="34" charset="-122"/>
                <a:cs typeface="Merriweather Bold" pitchFamily="34" charset="-120"/>
              </a:rPr>
              <a:t>Nestivo's Next Focus</a:t>
            </a:r>
            <a:endParaRPr lang="en-US" sz="1400" dirty="0"/>
          </a:p>
        </p:txBody>
      </p:sp>
      <p:sp>
        <p:nvSpPr>
          <p:cNvPr id="21" name="Text 15"/>
          <p:cNvSpPr/>
          <p:nvPr/>
        </p:nvSpPr>
        <p:spPr>
          <a:xfrm>
            <a:off x="701955" y="5361285"/>
            <a:ext cx="5176906" cy="651272"/>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000000"/>
                </a:solidFill>
                <a:latin typeface="Open Sans" pitchFamily="34" charset="0"/>
                <a:ea typeface="Open Sans" pitchFamily="34" charset="-122"/>
                <a:cs typeface="Open Sans" pitchFamily="34" charset="-120"/>
              </a:rPr>
              <a:t>Strengthen core cities, improve weaker rating areas like </a:t>
            </a:r>
            <a:r>
              <a:rPr lang="en-US" sz="1100" b="1" dirty="0">
                <a:solidFill>
                  <a:srgbClr val="000000"/>
                </a:solidFill>
                <a:latin typeface="Open Sans Bold" pitchFamily="34" charset="0"/>
                <a:ea typeface="Open Sans Bold" pitchFamily="34" charset="-122"/>
                <a:cs typeface="Open Sans Bold" pitchFamily="34" charset="-120"/>
              </a:rPr>
              <a:t>cleanliness</a:t>
            </a:r>
            <a:r>
              <a:rPr lang="en-US" sz="1100" dirty="0">
                <a:solidFill>
                  <a:srgbClr val="000000"/>
                </a:solidFill>
                <a:latin typeface="Open Sans" pitchFamily="34" charset="0"/>
                <a:ea typeface="Open Sans" pitchFamily="34" charset="-122"/>
                <a:cs typeface="Open Sans" pitchFamily="34" charset="-120"/>
              </a:rPr>
              <a:t> and </a:t>
            </a:r>
            <a:r>
              <a:rPr lang="en-US" sz="1100" b="1" dirty="0">
                <a:solidFill>
                  <a:srgbClr val="000000"/>
                </a:solidFill>
                <a:latin typeface="Open Sans Bold" pitchFamily="34" charset="0"/>
                <a:ea typeface="Open Sans Bold" pitchFamily="34" charset="-122"/>
                <a:cs typeface="Open Sans Bold" pitchFamily="34" charset="-120"/>
              </a:rPr>
              <a:t>value</a:t>
            </a:r>
            <a:r>
              <a:rPr lang="en-US" sz="1100" dirty="0">
                <a:solidFill>
                  <a:srgbClr val="000000"/>
                </a:solidFill>
                <a:latin typeface="Open Sans" pitchFamily="34" charset="0"/>
                <a:ea typeface="Open Sans" pitchFamily="34" charset="-122"/>
                <a:cs typeface="Open Sans" pitchFamily="34" charset="-120"/>
              </a:rPr>
              <a:t>, and continue increasing host verification. These actions can improve both guest satisfaction and trust.</a:t>
            </a:r>
            <a:endParaRPr lang="en-US" sz="1100" dirty="0"/>
          </a:p>
        </p:txBody>
      </p:sp>
      <p:sp>
        <p:nvSpPr>
          <p:cNvPr id="22" name="Text 16"/>
          <p:cNvSpPr/>
          <p:nvPr/>
        </p:nvSpPr>
        <p:spPr>
          <a:xfrm>
            <a:off x="6278703" y="5008662"/>
            <a:ext cx="5257867" cy="226020"/>
          </a:xfrm>
          <a:prstGeom prst="rect">
            <a:avLst/>
          </a:prstGeom>
          <a:noFill/>
          <a:ln/>
        </p:spPr>
        <p:txBody>
          <a:bodyPr wrap="none" lIns="0" tIns="0" rIns="0" bIns="0" rtlCol="0" anchor="t"/>
          <a:lstStyle/>
          <a:p>
            <a:pPr marL="0" indent="0" algn="l">
              <a:lnSpc>
                <a:spcPct val="104000"/>
              </a:lnSpc>
              <a:buNone/>
            </a:pPr>
            <a:r>
              <a:rPr lang="en-US" sz="1400" b="1" dirty="0">
                <a:solidFill>
                  <a:srgbClr val="403C4E"/>
                </a:solidFill>
                <a:latin typeface="Merriweather Bold" pitchFamily="34" charset="0"/>
                <a:ea typeface="Merriweather Bold" pitchFamily="34" charset="-122"/>
                <a:cs typeface="Merriweather Bold" pitchFamily="34" charset="-120"/>
              </a:rPr>
              <a:t>The Overall Story</a:t>
            </a:r>
            <a:endParaRPr lang="en-US" sz="1400" dirty="0"/>
          </a:p>
        </p:txBody>
      </p:sp>
      <p:sp>
        <p:nvSpPr>
          <p:cNvPr id="23" name="Text 17"/>
          <p:cNvSpPr/>
          <p:nvPr/>
        </p:nvSpPr>
        <p:spPr>
          <a:xfrm>
            <a:off x="6278703" y="5361285"/>
            <a:ext cx="5257867" cy="868362"/>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403C4E"/>
                </a:solidFill>
                <a:latin typeface="Open Sans" pitchFamily="34" charset="0"/>
                <a:ea typeface="Open Sans" pitchFamily="34" charset="-122"/>
                <a:cs typeface="Open Sans" pitchFamily="34" charset="-120"/>
              </a:rPr>
              <a:t>The analysis shows that Nestivo has scale, market concentration, strong guest ratings in several cities, and a generally healthy trust base. The main opportunity is to use this insight to improve weaker cities, improve consistency, and make the platform safer and more reliable.</a:t>
            </a:r>
            <a:endParaRPr lang="en-US" sz="1100" dirty="0"/>
          </a:p>
        </p:txBody>
      </p:sp>
      <p:sp>
        <p:nvSpPr>
          <p:cNvPr id="24" name="Rectangle 23">
            <a:extLst>
              <a:ext uri="{FF2B5EF4-FFF2-40B4-BE49-F238E27FC236}">
                <a16:creationId xmlns:a16="http://schemas.microsoft.com/office/drawing/2014/main" id="{4D11113A-4B3B-EF6C-BBDD-0953FF9BA48A}"/>
              </a:ext>
            </a:extLst>
          </p:cNvPr>
          <p:cNvSpPr/>
          <p:nvPr/>
        </p:nvSpPr>
        <p:spPr>
          <a:xfrm>
            <a:off x="11052202" y="6521573"/>
            <a:ext cx="1106752" cy="3191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TotalTime>
  <Words>1684</Words>
  <Application>Microsoft Office PowerPoint</Application>
  <PresentationFormat>Widescreen</PresentationFormat>
  <Paragraphs>159</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Open Sans Bold</vt:lpstr>
      <vt:lpstr>Merriweather Bold</vt:lpstr>
      <vt:lpstr>Twemoji Mozilla</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Jeet Chakraborty</dc:creator>
  <cp:lastModifiedBy>Jeet Chakraborty</cp:lastModifiedBy>
  <cp:revision>4</cp:revision>
  <dcterms:created xsi:type="dcterms:W3CDTF">2026-08-14T10:14:27Z</dcterms:created>
  <dcterms:modified xsi:type="dcterms:W3CDTF">2026-08-14T16:41:06Z</dcterms:modified>
</cp:coreProperties>
</file>